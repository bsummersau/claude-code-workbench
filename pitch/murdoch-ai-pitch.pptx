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212121"/>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C820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C820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71600"/>
            <a:ext cx="9144000" cy="411480"/>
          </a:xfrm>
          <a:prstGeom prst="rect">
            <a:avLst/>
          </a:prstGeom>
          <a:noFill/>
        </p:spPr>
        <p:txBody>
          <a:bodyPr wrap="square">
            <a:spAutoFit/>
          </a:bodyPr>
          <a:lstStyle/>
          <a:p>
            <a:pPr algn="l"/>
            <a:r>
              <a:rPr sz="1100" b="1" i="0">
                <a:solidFill>
                  <a:srgbClr val="C8203A"/>
                </a:solidFill>
                <a:latin typeface="Poppins"/>
              </a:rPr>
              <a:t>MURDOCH UNIVERSITY</a:t>
            </a:r>
          </a:p>
        </p:txBody>
      </p:sp>
      <p:sp>
        <p:nvSpPr>
          <p:cNvPr id="5" name="TextBox 4"/>
          <p:cNvSpPr txBox="1"/>
          <p:nvPr/>
        </p:nvSpPr>
        <p:spPr>
          <a:xfrm>
            <a:off x="457200" y="2011680"/>
            <a:ext cx="10058400" cy="2011680"/>
          </a:xfrm>
          <a:prstGeom prst="rect">
            <a:avLst/>
          </a:prstGeom>
          <a:noFill/>
        </p:spPr>
        <p:txBody>
          <a:bodyPr wrap="square">
            <a:spAutoFit/>
          </a:bodyPr>
          <a:lstStyle/>
          <a:p>
            <a:pPr algn="l"/>
            <a:r>
              <a:rPr sz="4600" b="1" i="0">
                <a:solidFill>
                  <a:srgbClr val="FFFFFF"/>
                </a:solidFill>
                <a:latin typeface="Poppins"/>
              </a:rPr>
              <a:t>AI-Powered Prospective</a:t>
            </a:r>
          </a:p>
          <a:p>
            <a:pPr algn="l"/>
            <a:r>
              <a:rPr sz="4600" b="1" i="0">
                <a:solidFill>
                  <a:srgbClr val="FFFFFF"/>
                </a:solidFill>
                <a:latin typeface="Poppins"/>
              </a:rPr>
              <a:t>Student Experience</a:t>
            </a:r>
          </a:p>
        </p:txBody>
      </p:sp>
      <p:sp>
        <p:nvSpPr>
          <p:cNvPr id="6" name="TextBox 5"/>
          <p:cNvSpPr txBox="1"/>
          <p:nvPr/>
        </p:nvSpPr>
        <p:spPr>
          <a:xfrm>
            <a:off x="457200" y="4160520"/>
            <a:ext cx="9144000" cy="502920"/>
          </a:xfrm>
          <a:prstGeom prst="rect">
            <a:avLst/>
          </a:prstGeom>
          <a:noFill/>
        </p:spPr>
        <p:txBody>
          <a:bodyPr wrap="square">
            <a:spAutoFit/>
          </a:bodyPr>
          <a:lstStyle/>
          <a:p>
            <a:pPr algn="l"/>
            <a:r>
              <a:rPr sz="2000" b="0" i="0">
                <a:solidFill>
                  <a:srgbClr val="9E9E9E"/>
                </a:solidFill>
                <a:latin typeface="Poppins"/>
              </a:rPr>
              <a:t>Turning website friction into guided conversations</a:t>
            </a:r>
          </a:p>
        </p:txBody>
      </p:sp>
      <p:sp>
        <p:nvSpPr>
          <p:cNvPr id="7" name="Rectangle 6"/>
          <p:cNvSpPr/>
          <p:nvPr/>
        </p:nvSpPr>
        <p:spPr>
          <a:xfrm>
            <a:off x="457200" y="4892040"/>
            <a:ext cx="4114800" cy="36576"/>
          </a:xfrm>
          <a:prstGeom prst="rect">
            <a:avLst/>
          </a:prstGeom>
          <a:solidFill>
            <a:srgbClr val="C820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5120640"/>
            <a:ext cx="8229600" cy="365760"/>
          </a:xfrm>
          <a:prstGeom prst="rect">
            <a:avLst/>
          </a:prstGeom>
          <a:noFill/>
        </p:spPr>
        <p:txBody>
          <a:bodyPr wrap="square">
            <a:spAutoFit/>
          </a:bodyPr>
          <a:lstStyle/>
          <a:p>
            <a:pPr algn="l"/>
            <a:r>
              <a:rPr sz="1200" b="0" i="0">
                <a:solidFill>
                  <a:srgbClr val="9E9E9E"/>
                </a:solidFill>
                <a:latin typeface="Poppins"/>
              </a:rPr>
              <a:t>Prepared for Murdoch University  —  March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57200"/>
            <a:ext cx="11002975" cy="640080"/>
          </a:xfrm>
          <a:prstGeom prst="rect">
            <a:avLst/>
          </a:prstGeom>
          <a:noFill/>
        </p:spPr>
        <p:txBody>
          <a:bodyPr wrap="none">
            <a:spAutoFit/>
          </a:bodyPr>
          <a:lstStyle/>
          <a:p>
            <a:pPr algn="l"/>
            <a:r>
              <a:rPr sz="2400" b="1" i="0">
                <a:solidFill>
                  <a:srgbClr val="212121"/>
                </a:solidFill>
                <a:latin typeface="Poppins"/>
              </a:rPr>
              <a:t>Today's Agenda</a:t>
            </a:r>
          </a:p>
        </p:txBody>
      </p:sp>
      <p:sp>
        <p:nvSpPr>
          <p:cNvPr id="3" name="Rectangle 2"/>
          <p:cNvSpPr/>
          <p:nvPr/>
        </p:nvSpPr>
        <p:spPr>
          <a:xfrm>
            <a:off x="594360" y="1188720"/>
            <a:ext cx="11002975" cy="45720"/>
          </a:xfrm>
          <a:prstGeom prst="rect">
            <a:avLst/>
          </a:prstGeom>
          <a:solidFill>
            <a:srgbClr val="C820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94360" y="1463040"/>
            <a:ext cx="384048" cy="384048"/>
          </a:xfrm>
          <a:prstGeom prst="rect">
            <a:avLst/>
          </a:prstGeom>
          <a:solidFill>
            <a:srgbClr val="C820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444752"/>
            <a:ext cx="384048" cy="384048"/>
          </a:xfrm>
          <a:prstGeom prst="rect">
            <a:avLst/>
          </a:prstGeom>
          <a:noFill/>
        </p:spPr>
        <p:txBody>
          <a:bodyPr wrap="square">
            <a:spAutoFit/>
          </a:bodyPr>
          <a:lstStyle/>
          <a:p>
            <a:pPr algn="ctr"/>
            <a:r>
              <a:rPr sz="1100" b="1" i="0">
                <a:solidFill>
                  <a:srgbClr val="FFFFFF"/>
                </a:solidFill>
                <a:latin typeface="Poppins"/>
              </a:rPr>
              <a:t>01</a:t>
            </a:r>
          </a:p>
        </p:txBody>
      </p:sp>
      <p:sp>
        <p:nvSpPr>
          <p:cNvPr id="6" name="TextBox 5"/>
          <p:cNvSpPr txBox="1"/>
          <p:nvPr/>
        </p:nvSpPr>
        <p:spPr>
          <a:xfrm>
            <a:off x="1106424" y="1371600"/>
            <a:ext cx="10058400" cy="347472"/>
          </a:xfrm>
          <a:prstGeom prst="rect">
            <a:avLst/>
          </a:prstGeom>
          <a:noFill/>
        </p:spPr>
        <p:txBody>
          <a:bodyPr wrap="none">
            <a:spAutoFit/>
          </a:bodyPr>
          <a:lstStyle/>
          <a:p>
            <a:pPr algn="l"/>
            <a:r>
              <a:rPr sz="1600" b="1" i="0">
                <a:solidFill>
                  <a:srgbClr val="212121"/>
                </a:solidFill>
                <a:latin typeface="Poppins"/>
              </a:rPr>
              <a:t>The Challenge</a:t>
            </a:r>
          </a:p>
        </p:txBody>
      </p:sp>
      <p:sp>
        <p:nvSpPr>
          <p:cNvPr id="7" name="TextBox 6"/>
          <p:cNvSpPr txBox="1"/>
          <p:nvPr/>
        </p:nvSpPr>
        <p:spPr>
          <a:xfrm>
            <a:off x="1106424" y="1709928"/>
            <a:ext cx="10058400" cy="320040"/>
          </a:xfrm>
          <a:prstGeom prst="rect">
            <a:avLst/>
          </a:prstGeom>
          <a:noFill/>
        </p:spPr>
        <p:txBody>
          <a:bodyPr wrap="none">
            <a:spAutoFit/>
          </a:bodyPr>
          <a:lstStyle/>
          <a:p>
            <a:pPr algn="l"/>
            <a:r>
              <a:rPr sz="1200" b="0" i="0">
                <a:solidFill>
                  <a:srgbClr val="616161"/>
                </a:solidFill>
                <a:latin typeface="Poppins"/>
              </a:rPr>
              <a:t>What the research tells us about the prospective student journey</a:t>
            </a:r>
          </a:p>
        </p:txBody>
      </p:sp>
      <p:sp>
        <p:nvSpPr>
          <p:cNvPr id="8" name="Rectangle 7"/>
          <p:cNvSpPr/>
          <p:nvPr/>
        </p:nvSpPr>
        <p:spPr>
          <a:xfrm>
            <a:off x="1106424" y="2048256"/>
            <a:ext cx="10515600" cy="9144"/>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94360" y="2194560"/>
            <a:ext cx="384048" cy="384048"/>
          </a:xfrm>
          <a:prstGeom prst="rect">
            <a:avLst/>
          </a:prstGeom>
          <a:solidFill>
            <a:srgbClr val="C820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2176272"/>
            <a:ext cx="384048" cy="384048"/>
          </a:xfrm>
          <a:prstGeom prst="rect">
            <a:avLst/>
          </a:prstGeom>
          <a:noFill/>
        </p:spPr>
        <p:txBody>
          <a:bodyPr wrap="square">
            <a:spAutoFit/>
          </a:bodyPr>
          <a:lstStyle/>
          <a:p>
            <a:pPr algn="ctr"/>
            <a:r>
              <a:rPr sz="1100" b="1" i="0">
                <a:solidFill>
                  <a:srgbClr val="FFFFFF"/>
                </a:solidFill>
                <a:latin typeface="Poppins"/>
              </a:rPr>
              <a:t>02</a:t>
            </a:r>
          </a:p>
        </p:txBody>
      </p:sp>
      <p:sp>
        <p:nvSpPr>
          <p:cNvPr id="11" name="TextBox 10"/>
          <p:cNvSpPr txBox="1"/>
          <p:nvPr/>
        </p:nvSpPr>
        <p:spPr>
          <a:xfrm>
            <a:off x="1106424" y="2103120"/>
            <a:ext cx="10058400" cy="347472"/>
          </a:xfrm>
          <a:prstGeom prst="rect">
            <a:avLst/>
          </a:prstGeom>
          <a:noFill/>
        </p:spPr>
        <p:txBody>
          <a:bodyPr wrap="none">
            <a:spAutoFit/>
          </a:bodyPr>
          <a:lstStyle/>
          <a:p>
            <a:pPr algn="l"/>
            <a:r>
              <a:rPr sz="1600" b="1" i="0">
                <a:solidFill>
                  <a:srgbClr val="212121"/>
                </a:solidFill>
                <a:latin typeface="Poppins"/>
              </a:rPr>
              <a:t>The Solution</a:t>
            </a:r>
          </a:p>
        </p:txBody>
      </p:sp>
      <p:sp>
        <p:nvSpPr>
          <p:cNvPr id="12" name="TextBox 11"/>
          <p:cNvSpPr txBox="1"/>
          <p:nvPr/>
        </p:nvSpPr>
        <p:spPr>
          <a:xfrm>
            <a:off x="1106424" y="2441448"/>
            <a:ext cx="10058400" cy="320040"/>
          </a:xfrm>
          <a:prstGeom prst="rect">
            <a:avLst/>
          </a:prstGeom>
          <a:noFill/>
        </p:spPr>
        <p:txBody>
          <a:bodyPr wrap="none">
            <a:spAutoFit/>
          </a:bodyPr>
          <a:lstStyle/>
          <a:p>
            <a:pPr algn="l"/>
            <a:r>
              <a:rPr sz="1200" b="0" i="0">
                <a:solidFill>
                  <a:srgbClr val="616161"/>
                </a:solidFill>
                <a:latin typeface="Poppins"/>
              </a:rPr>
              <a:t>A working AI agent built for Murdoch, ready to demo</a:t>
            </a:r>
          </a:p>
        </p:txBody>
      </p:sp>
      <p:sp>
        <p:nvSpPr>
          <p:cNvPr id="13" name="Rectangle 12"/>
          <p:cNvSpPr/>
          <p:nvPr/>
        </p:nvSpPr>
        <p:spPr>
          <a:xfrm>
            <a:off x="1106424" y="2779776"/>
            <a:ext cx="10515600" cy="9144"/>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94360" y="2926080"/>
            <a:ext cx="384048" cy="384048"/>
          </a:xfrm>
          <a:prstGeom prst="rect">
            <a:avLst/>
          </a:prstGeom>
          <a:solidFill>
            <a:srgbClr val="C820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2907792"/>
            <a:ext cx="384048" cy="384048"/>
          </a:xfrm>
          <a:prstGeom prst="rect">
            <a:avLst/>
          </a:prstGeom>
          <a:noFill/>
        </p:spPr>
        <p:txBody>
          <a:bodyPr wrap="square">
            <a:spAutoFit/>
          </a:bodyPr>
          <a:lstStyle/>
          <a:p>
            <a:pPr algn="ctr"/>
            <a:r>
              <a:rPr sz="1100" b="1" i="0">
                <a:solidFill>
                  <a:srgbClr val="FFFFFF"/>
                </a:solidFill>
                <a:latin typeface="Poppins"/>
              </a:rPr>
              <a:t>03</a:t>
            </a:r>
          </a:p>
        </p:txBody>
      </p:sp>
      <p:sp>
        <p:nvSpPr>
          <p:cNvPr id="16" name="TextBox 15"/>
          <p:cNvSpPr txBox="1"/>
          <p:nvPr/>
        </p:nvSpPr>
        <p:spPr>
          <a:xfrm>
            <a:off x="1106424" y="2834640"/>
            <a:ext cx="10058400" cy="347472"/>
          </a:xfrm>
          <a:prstGeom prst="rect">
            <a:avLst/>
          </a:prstGeom>
          <a:noFill/>
        </p:spPr>
        <p:txBody>
          <a:bodyPr wrap="none">
            <a:spAutoFit/>
          </a:bodyPr>
          <a:lstStyle/>
          <a:p>
            <a:pPr algn="l"/>
            <a:r>
              <a:rPr sz="1600" b="1" i="0">
                <a:solidFill>
                  <a:srgbClr val="212121"/>
                </a:solidFill>
                <a:latin typeface="Poppins"/>
              </a:rPr>
              <a:t>From PoC to Production</a:t>
            </a:r>
          </a:p>
        </p:txBody>
      </p:sp>
      <p:sp>
        <p:nvSpPr>
          <p:cNvPr id="17" name="TextBox 16"/>
          <p:cNvSpPr txBox="1"/>
          <p:nvPr/>
        </p:nvSpPr>
        <p:spPr>
          <a:xfrm>
            <a:off x="1106424" y="3172968"/>
            <a:ext cx="10058400" cy="320040"/>
          </a:xfrm>
          <a:prstGeom prst="rect">
            <a:avLst/>
          </a:prstGeom>
          <a:noFill/>
        </p:spPr>
        <p:txBody>
          <a:bodyPr wrap="none">
            <a:spAutoFit/>
          </a:bodyPr>
          <a:lstStyle/>
          <a:p>
            <a:pPr algn="l"/>
            <a:r>
              <a:rPr sz="1200" b="0" i="0">
                <a:solidFill>
                  <a:srgbClr val="616161"/>
                </a:solidFill>
                <a:latin typeface="Poppins"/>
              </a:rPr>
              <a:t>Federating knowledge and building a platform</a:t>
            </a:r>
          </a:p>
        </p:txBody>
      </p:sp>
      <p:sp>
        <p:nvSpPr>
          <p:cNvPr id="18" name="Rectangle 17"/>
          <p:cNvSpPr/>
          <p:nvPr/>
        </p:nvSpPr>
        <p:spPr>
          <a:xfrm>
            <a:off x="1106424" y="3511296"/>
            <a:ext cx="10515600" cy="9144"/>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94360" y="3657600"/>
            <a:ext cx="384048" cy="384048"/>
          </a:xfrm>
          <a:prstGeom prst="rect">
            <a:avLst/>
          </a:prstGeom>
          <a:solidFill>
            <a:srgbClr val="C820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94360" y="3639312"/>
            <a:ext cx="384048" cy="384048"/>
          </a:xfrm>
          <a:prstGeom prst="rect">
            <a:avLst/>
          </a:prstGeom>
          <a:noFill/>
        </p:spPr>
        <p:txBody>
          <a:bodyPr wrap="square">
            <a:spAutoFit/>
          </a:bodyPr>
          <a:lstStyle/>
          <a:p>
            <a:pPr algn="ctr"/>
            <a:r>
              <a:rPr sz="1100" b="1" i="0">
                <a:solidFill>
                  <a:srgbClr val="FFFFFF"/>
                </a:solidFill>
                <a:latin typeface="Poppins"/>
              </a:rPr>
              <a:t>04</a:t>
            </a:r>
          </a:p>
        </p:txBody>
      </p:sp>
      <p:sp>
        <p:nvSpPr>
          <p:cNvPr id="21" name="TextBox 20"/>
          <p:cNvSpPr txBox="1"/>
          <p:nvPr/>
        </p:nvSpPr>
        <p:spPr>
          <a:xfrm>
            <a:off x="1106424" y="3566160"/>
            <a:ext cx="10058400" cy="347472"/>
          </a:xfrm>
          <a:prstGeom prst="rect">
            <a:avLst/>
          </a:prstGeom>
          <a:noFill/>
        </p:spPr>
        <p:txBody>
          <a:bodyPr wrap="none">
            <a:spAutoFit/>
          </a:bodyPr>
          <a:lstStyle/>
          <a:p>
            <a:pPr algn="l"/>
            <a:r>
              <a:rPr sz="1600" b="1" i="0">
                <a:solidFill>
                  <a:srgbClr val="212121"/>
                </a:solidFill>
                <a:latin typeface="Poppins"/>
              </a:rPr>
              <a:t>The Strategic Case</a:t>
            </a:r>
          </a:p>
        </p:txBody>
      </p:sp>
      <p:sp>
        <p:nvSpPr>
          <p:cNvPr id="22" name="TextBox 21"/>
          <p:cNvSpPr txBox="1"/>
          <p:nvPr/>
        </p:nvSpPr>
        <p:spPr>
          <a:xfrm>
            <a:off x="1106424" y="3904488"/>
            <a:ext cx="10058400" cy="320040"/>
          </a:xfrm>
          <a:prstGeom prst="rect">
            <a:avLst/>
          </a:prstGeom>
          <a:noFill/>
        </p:spPr>
        <p:txBody>
          <a:bodyPr wrap="none">
            <a:spAutoFit/>
          </a:bodyPr>
          <a:lstStyle/>
          <a:p>
            <a:pPr algn="l"/>
            <a:r>
              <a:rPr sz="1200" b="0" i="0">
                <a:solidFill>
                  <a:srgbClr val="616161"/>
                </a:solidFill>
                <a:latin typeface="Poppins"/>
              </a:rPr>
              <a:t>Why this matters commercially and architecturally</a:t>
            </a:r>
          </a:p>
        </p:txBody>
      </p:sp>
      <p:sp>
        <p:nvSpPr>
          <p:cNvPr id="23" name="Rectangle 22"/>
          <p:cNvSpPr/>
          <p:nvPr/>
        </p:nvSpPr>
        <p:spPr>
          <a:xfrm>
            <a:off x="1106424" y="4242816"/>
            <a:ext cx="10515600" cy="9144"/>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94360" y="4389120"/>
            <a:ext cx="384048" cy="384048"/>
          </a:xfrm>
          <a:prstGeom prst="rect">
            <a:avLst/>
          </a:prstGeom>
          <a:solidFill>
            <a:srgbClr val="C820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94360" y="4370832"/>
            <a:ext cx="384048" cy="384048"/>
          </a:xfrm>
          <a:prstGeom prst="rect">
            <a:avLst/>
          </a:prstGeom>
          <a:noFill/>
        </p:spPr>
        <p:txBody>
          <a:bodyPr wrap="square">
            <a:spAutoFit/>
          </a:bodyPr>
          <a:lstStyle/>
          <a:p>
            <a:pPr algn="ctr"/>
            <a:r>
              <a:rPr sz="1100" b="1" i="0">
                <a:solidFill>
                  <a:srgbClr val="FFFFFF"/>
                </a:solidFill>
                <a:latin typeface="Poppins"/>
              </a:rPr>
              <a:t>05</a:t>
            </a:r>
          </a:p>
        </p:txBody>
      </p:sp>
      <p:sp>
        <p:nvSpPr>
          <p:cNvPr id="26" name="TextBox 25"/>
          <p:cNvSpPr txBox="1"/>
          <p:nvPr/>
        </p:nvSpPr>
        <p:spPr>
          <a:xfrm>
            <a:off x="1106424" y="4297680"/>
            <a:ext cx="10058400" cy="347472"/>
          </a:xfrm>
          <a:prstGeom prst="rect">
            <a:avLst/>
          </a:prstGeom>
          <a:noFill/>
        </p:spPr>
        <p:txBody>
          <a:bodyPr wrap="none">
            <a:spAutoFit/>
          </a:bodyPr>
          <a:lstStyle/>
          <a:p>
            <a:pPr algn="l"/>
            <a:r>
              <a:rPr sz="1600" b="1" i="0">
                <a:solidFill>
                  <a:srgbClr val="212121"/>
                </a:solidFill>
                <a:latin typeface="Poppins"/>
              </a:rPr>
              <a:t>Why Now</a:t>
            </a:r>
          </a:p>
        </p:txBody>
      </p:sp>
      <p:sp>
        <p:nvSpPr>
          <p:cNvPr id="27" name="TextBox 26"/>
          <p:cNvSpPr txBox="1"/>
          <p:nvPr/>
        </p:nvSpPr>
        <p:spPr>
          <a:xfrm>
            <a:off x="1106424" y="4636008"/>
            <a:ext cx="10058400" cy="320040"/>
          </a:xfrm>
          <a:prstGeom prst="rect">
            <a:avLst/>
          </a:prstGeom>
          <a:noFill/>
        </p:spPr>
        <p:txBody>
          <a:bodyPr wrap="none">
            <a:spAutoFit/>
          </a:bodyPr>
          <a:lstStyle/>
          <a:p>
            <a:pPr algn="l"/>
            <a:r>
              <a:rPr sz="1200" b="0" i="0">
                <a:solidFill>
                  <a:srgbClr val="616161"/>
                </a:solidFill>
                <a:latin typeface="Poppins"/>
              </a:rPr>
              <a:t>The window for first-mover advantage</a:t>
            </a:r>
          </a:p>
        </p:txBody>
      </p:sp>
      <p:sp>
        <p:nvSpPr>
          <p:cNvPr id="28" name="Rectangle 27"/>
          <p:cNvSpPr/>
          <p:nvPr/>
        </p:nvSpPr>
        <p:spPr>
          <a:xfrm>
            <a:off x="1106424" y="4974336"/>
            <a:ext cx="10515600" cy="9144"/>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94360" y="5120640"/>
            <a:ext cx="384048" cy="384048"/>
          </a:xfrm>
          <a:prstGeom prst="rect">
            <a:avLst/>
          </a:prstGeom>
          <a:solidFill>
            <a:srgbClr val="C820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94360" y="5102352"/>
            <a:ext cx="384048" cy="384048"/>
          </a:xfrm>
          <a:prstGeom prst="rect">
            <a:avLst/>
          </a:prstGeom>
          <a:noFill/>
        </p:spPr>
        <p:txBody>
          <a:bodyPr wrap="square">
            <a:spAutoFit/>
          </a:bodyPr>
          <a:lstStyle/>
          <a:p>
            <a:pPr algn="ctr"/>
            <a:r>
              <a:rPr sz="1100" b="1" i="0">
                <a:solidFill>
                  <a:srgbClr val="FFFFFF"/>
                </a:solidFill>
                <a:latin typeface="Poppins"/>
              </a:rPr>
              <a:t>06</a:t>
            </a:r>
          </a:p>
        </p:txBody>
      </p:sp>
      <p:sp>
        <p:nvSpPr>
          <p:cNvPr id="31" name="TextBox 30"/>
          <p:cNvSpPr txBox="1"/>
          <p:nvPr/>
        </p:nvSpPr>
        <p:spPr>
          <a:xfrm>
            <a:off x="1106424" y="5029200"/>
            <a:ext cx="10058400" cy="347472"/>
          </a:xfrm>
          <a:prstGeom prst="rect">
            <a:avLst/>
          </a:prstGeom>
          <a:noFill/>
        </p:spPr>
        <p:txBody>
          <a:bodyPr wrap="none">
            <a:spAutoFit/>
          </a:bodyPr>
          <a:lstStyle/>
          <a:p>
            <a:pPr algn="l"/>
            <a:r>
              <a:rPr sz="1600" b="1" i="0">
                <a:solidFill>
                  <a:srgbClr val="212121"/>
                </a:solidFill>
                <a:latin typeface="Poppins"/>
              </a:rPr>
              <a:t>The Roadmap</a:t>
            </a:r>
          </a:p>
        </p:txBody>
      </p:sp>
      <p:sp>
        <p:nvSpPr>
          <p:cNvPr id="32" name="TextBox 31"/>
          <p:cNvSpPr txBox="1"/>
          <p:nvPr/>
        </p:nvSpPr>
        <p:spPr>
          <a:xfrm>
            <a:off x="1106424" y="5367528"/>
            <a:ext cx="10058400" cy="320040"/>
          </a:xfrm>
          <a:prstGeom prst="rect">
            <a:avLst/>
          </a:prstGeom>
          <a:noFill/>
        </p:spPr>
        <p:txBody>
          <a:bodyPr wrap="none">
            <a:spAutoFit/>
          </a:bodyPr>
          <a:lstStyle/>
          <a:p>
            <a:pPr algn="l"/>
            <a:r>
              <a:rPr sz="1200" b="0" i="0">
                <a:solidFill>
                  <a:srgbClr val="616161"/>
                </a:solidFill>
                <a:latin typeface="Poppins"/>
              </a:rPr>
              <a:t>A phased engagement from pilot to scale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212121"/>
        </a:solidFill>
        <a:effectLst/>
      </p:bgPr>
    </p:bg>
    <p:spTree>
      <p:nvGrpSpPr>
        <p:cNvPr id="1" name=""/>
        <p:cNvGrpSpPr/>
        <p:nvPr/>
      </p:nvGrpSpPr>
      <p:grpSpPr/>
      <p:sp>
        <p:nvSpPr>
          <p:cNvPr id="2" name="TextBox 1"/>
          <p:cNvSpPr txBox="1"/>
          <p:nvPr/>
        </p:nvSpPr>
        <p:spPr>
          <a:xfrm>
            <a:off x="6705295" y="685800"/>
            <a:ext cx="5486400" cy="5486400"/>
          </a:xfrm>
          <a:prstGeom prst="rect">
            <a:avLst/>
          </a:prstGeom>
          <a:noFill/>
        </p:spPr>
        <p:txBody>
          <a:bodyPr wrap="square">
            <a:spAutoFit/>
          </a:bodyPr>
          <a:lstStyle/>
          <a:p>
            <a:pPr algn="r"/>
            <a:r>
              <a:rPr sz="20000" b="1" i="0">
                <a:solidFill>
                  <a:srgbClr val="2D2D2D"/>
                </a:solidFill>
                <a:latin typeface="Poppins"/>
              </a:rPr>
              <a:t>01</a:t>
            </a:r>
          </a:p>
        </p:txBody>
      </p:sp>
      <p:sp>
        <p:nvSpPr>
          <p:cNvPr id="3" name="Rectangle 2"/>
          <p:cNvSpPr/>
          <p:nvPr/>
        </p:nvSpPr>
        <p:spPr>
          <a:xfrm>
            <a:off x="594360" y="2926080"/>
            <a:ext cx="1463040" cy="54864"/>
          </a:xfrm>
          <a:prstGeom prst="rect">
            <a:avLst/>
          </a:prstGeom>
          <a:solidFill>
            <a:srgbClr val="C820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3108960"/>
            <a:ext cx="7315200" cy="411480"/>
          </a:xfrm>
          <a:prstGeom prst="rect">
            <a:avLst/>
          </a:prstGeom>
          <a:noFill/>
        </p:spPr>
        <p:txBody>
          <a:bodyPr wrap="square">
            <a:spAutoFit/>
          </a:bodyPr>
          <a:lstStyle/>
          <a:p>
            <a:pPr algn="l"/>
            <a:r>
              <a:rPr sz="1400" b="1" i="0">
                <a:solidFill>
                  <a:srgbClr val="C8203A"/>
                </a:solidFill>
                <a:latin typeface="Poppins"/>
              </a:rPr>
              <a:t>01 /</a:t>
            </a:r>
          </a:p>
        </p:txBody>
      </p:sp>
      <p:sp>
        <p:nvSpPr>
          <p:cNvPr id="5" name="TextBox 4"/>
          <p:cNvSpPr txBox="1"/>
          <p:nvPr/>
        </p:nvSpPr>
        <p:spPr>
          <a:xfrm>
            <a:off x="594360" y="3566160"/>
            <a:ext cx="8229600" cy="1188720"/>
          </a:xfrm>
          <a:prstGeom prst="rect">
            <a:avLst/>
          </a:prstGeom>
          <a:noFill/>
        </p:spPr>
        <p:txBody>
          <a:bodyPr wrap="square">
            <a:spAutoFit/>
          </a:bodyPr>
          <a:lstStyle/>
          <a:p>
            <a:pPr algn="l"/>
            <a:r>
              <a:rPr sz="5200" b="1" i="0">
                <a:solidFill>
                  <a:srgbClr val="FFFFFF"/>
                </a:solidFill>
                <a:latin typeface="Poppins"/>
              </a:rPr>
              <a:t>The Challenge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57200"/>
            <a:ext cx="11002975" cy="640080"/>
          </a:xfrm>
          <a:prstGeom prst="rect">
            <a:avLst/>
          </a:prstGeom>
          <a:noFill/>
        </p:spPr>
        <p:txBody>
          <a:bodyPr wrap="none">
            <a:spAutoFit/>
          </a:bodyPr>
          <a:lstStyle/>
          <a:p>
            <a:pPr algn="l"/>
            <a:r>
              <a:rPr sz="2400" b="1" i="0">
                <a:solidFill>
                  <a:srgbClr val="212121"/>
                </a:solidFill>
                <a:latin typeface="Poppins"/>
              </a:rPr>
              <a:t>Your Website Is Working Against Your Enrolment Funnel</a:t>
            </a:r>
          </a:p>
        </p:txBody>
      </p:sp>
      <p:sp>
        <p:nvSpPr>
          <p:cNvPr id="3" name="Rectangle 2"/>
          <p:cNvSpPr/>
          <p:nvPr/>
        </p:nvSpPr>
        <p:spPr>
          <a:xfrm>
            <a:off x="594360" y="1188720"/>
            <a:ext cx="11002975" cy="45720"/>
          </a:xfrm>
          <a:prstGeom prst="rect">
            <a:avLst/>
          </a:prstGeom>
          <a:solidFill>
            <a:srgbClr val="C820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94360" y="1499616"/>
            <a:ext cx="64008" cy="64008"/>
          </a:xfrm>
          <a:prstGeom prst="rect">
            <a:avLst/>
          </a:prstGeom>
          <a:solidFill>
            <a:srgbClr val="C820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371600"/>
            <a:ext cx="4937760" cy="1554480"/>
          </a:xfrm>
          <a:prstGeom prst="rect">
            <a:avLst/>
          </a:prstGeom>
          <a:noFill/>
        </p:spPr>
        <p:txBody>
          <a:bodyPr wrap="square">
            <a:spAutoFit/>
          </a:bodyPr>
          <a:lstStyle/>
          <a:p>
            <a:pPr algn="l">
              <a:spcAft>
                <a:spcPts val="400"/>
              </a:spcAft>
            </a:pPr>
            <a:r>
              <a:rPr sz="1300" b="1" i="0">
                <a:solidFill>
                  <a:srgbClr val="212121"/>
                </a:solidFill>
                <a:latin typeface="Poppins"/>
              </a:rPr>
              <a:t>The split students feel but can't see</a:t>
            </a:r>
          </a:p>
          <a:p>
            <a:pPr algn="l"/>
            <a:r>
              <a:rPr sz="1200" b="0" i="0">
                <a:solidFill>
                  <a:srgbClr val="616161"/>
                </a:solidFill>
                <a:latin typeface="Poppins"/>
              </a:rPr>
              <a:t>The site is divided between two sub-sites with different owners — students bear the cost of that division.</a:t>
            </a:r>
          </a:p>
        </p:txBody>
      </p:sp>
      <p:sp>
        <p:nvSpPr>
          <p:cNvPr id="6" name="Rectangle 5"/>
          <p:cNvSpPr/>
          <p:nvPr/>
        </p:nvSpPr>
        <p:spPr>
          <a:xfrm>
            <a:off x="594360" y="3163824"/>
            <a:ext cx="64008" cy="64008"/>
          </a:xfrm>
          <a:prstGeom prst="rect">
            <a:avLst/>
          </a:prstGeom>
          <a:solidFill>
            <a:srgbClr val="C820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3035808"/>
            <a:ext cx="4937760" cy="1554480"/>
          </a:xfrm>
          <a:prstGeom prst="rect">
            <a:avLst/>
          </a:prstGeom>
          <a:noFill/>
        </p:spPr>
        <p:txBody>
          <a:bodyPr wrap="square">
            <a:spAutoFit/>
          </a:bodyPr>
          <a:lstStyle/>
          <a:p>
            <a:pPr algn="l">
              <a:spcAft>
                <a:spcPts val="400"/>
              </a:spcAft>
            </a:pPr>
            <a:r>
              <a:rPr sz="1300" b="1" i="0">
                <a:solidFill>
                  <a:srgbClr val="212121"/>
                </a:solidFill>
                <a:latin typeface="Poppins"/>
              </a:rPr>
              <a:t>Study sub-site (Marketing-owned)</a:t>
            </a:r>
          </a:p>
          <a:p>
            <a:pPr algn="l"/>
            <a:r>
              <a:rPr sz="1200" b="0" i="0">
                <a:solidFill>
                  <a:srgbClr val="616161"/>
                </a:solidFill>
                <a:latin typeface="Poppins"/>
              </a:rPr>
              <a:t>Conversion-focused and brand-consistent, but covers only part of the picture.</a:t>
            </a:r>
          </a:p>
        </p:txBody>
      </p:sp>
      <p:sp>
        <p:nvSpPr>
          <p:cNvPr id="8" name="Rectangle 7"/>
          <p:cNvSpPr/>
          <p:nvPr/>
        </p:nvSpPr>
        <p:spPr>
          <a:xfrm>
            <a:off x="594360" y="4828032"/>
            <a:ext cx="64008" cy="64008"/>
          </a:xfrm>
          <a:prstGeom prst="rect">
            <a:avLst/>
          </a:prstGeom>
          <a:solidFill>
            <a:srgbClr val="C820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4700016"/>
            <a:ext cx="4937760" cy="1554480"/>
          </a:xfrm>
          <a:prstGeom prst="rect">
            <a:avLst/>
          </a:prstGeom>
          <a:noFill/>
        </p:spPr>
        <p:txBody>
          <a:bodyPr wrap="square">
            <a:spAutoFit/>
          </a:bodyPr>
          <a:lstStyle/>
          <a:p>
            <a:pPr algn="l">
              <a:spcAft>
                <a:spcPts val="400"/>
              </a:spcAft>
            </a:pPr>
            <a:r>
              <a:rPr sz="1300" b="1" i="0">
                <a:solidFill>
                  <a:srgbClr val="212121"/>
                </a:solidFill>
                <a:latin typeface="Poppins"/>
              </a:rPr>
              <a:t>Explore sub-site (School/Faculty-owned)</a:t>
            </a:r>
          </a:p>
          <a:p>
            <a:pPr algn="l"/>
            <a:r>
              <a:rPr sz="1200" b="0" i="0">
                <a:solidFill>
                  <a:srgbClr val="616161"/>
                </a:solidFill>
                <a:latin typeface="Poppins"/>
              </a:rPr>
              <a:t>Deep course content — but every school maintains it differently. No unified voice or student-facing logic.</a:t>
            </a:r>
          </a:p>
        </p:txBody>
      </p:sp>
      <p:sp>
        <p:nvSpPr>
          <p:cNvPr id="10" name="Rectangle 9"/>
          <p:cNvSpPr/>
          <p:nvPr/>
        </p:nvSpPr>
        <p:spPr>
          <a:xfrm>
            <a:off x="6080760" y="1499616"/>
            <a:ext cx="64008" cy="64008"/>
          </a:xfrm>
          <a:prstGeom prst="rect">
            <a:avLst/>
          </a:prstGeom>
          <a:solidFill>
            <a:srgbClr val="C820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63640" y="1371600"/>
            <a:ext cx="4937760" cy="1554480"/>
          </a:xfrm>
          <a:prstGeom prst="rect">
            <a:avLst/>
          </a:prstGeom>
          <a:noFill/>
        </p:spPr>
        <p:txBody>
          <a:bodyPr wrap="square">
            <a:spAutoFit/>
          </a:bodyPr>
          <a:lstStyle/>
          <a:p>
            <a:pPr algn="l">
              <a:spcAft>
                <a:spcPts val="400"/>
              </a:spcAft>
            </a:pPr>
            <a:r>
              <a:rPr sz="1300" b="1" i="0">
                <a:solidFill>
                  <a:srgbClr val="212121"/>
                </a:solidFill>
                <a:latin typeface="Poppins"/>
              </a:rPr>
              <a:t>Invisible seams, real confusion</a:t>
            </a:r>
          </a:p>
          <a:p>
            <a:pPr algn="l"/>
            <a:r>
              <a:rPr sz="1200" b="0" i="0">
                <a:solidFill>
                  <a:srgbClr val="616161"/>
                </a:solidFill>
                <a:latin typeface="Poppins"/>
              </a:rPr>
              <a:t>Students cross between these environments without knowing it, hitting inconsistent layouts and terminology.</a:t>
            </a:r>
          </a:p>
        </p:txBody>
      </p:sp>
      <p:sp>
        <p:nvSpPr>
          <p:cNvPr id="12" name="Rectangle 11"/>
          <p:cNvSpPr/>
          <p:nvPr/>
        </p:nvSpPr>
        <p:spPr>
          <a:xfrm>
            <a:off x="6080760" y="3163824"/>
            <a:ext cx="64008" cy="64008"/>
          </a:xfrm>
          <a:prstGeom prst="rect">
            <a:avLst/>
          </a:prstGeom>
          <a:solidFill>
            <a:srgbClr val="C820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263640" y="3035808"/>
            <a:ext cx="4937760" cy="1554480"/>
          </a:xfrm>
          <a:prstGeom prst="rect">
            <a:avLst/>
          </a:prstGeom>
          <a:noFill/>
        </p:spPr>
        <p:txBody>
          <a:bodyPr wrap="square">
            <a:spAutoFit/>
          </a:bodyPr>
          <a:lstStyle/>
          <a:p>
            <a:pPr algn="l">
              <a:spcAft>
                <a:spcPts val="400"/>
              </a:spcAft>
            </a:pPr>
            <a:r>
              <a:rPr sz="1300" b="1" i="0">
                <a:solidFill>
                  <a:srgbClr val="212121"/>
                </a:solidFill>
                <a:latin typeface="Poppins"/>
              </a:rPr>
              <a:t>The structural result</a:t>
            </a:r>
          </a:p>
          <a:p>
            <a:pPr algn="l"/>
            <a:r>
              <a:rPr sz="1200" b="0" i="0">
                <a:solidFill>
                  <a:srgbClr val="616161"/>
                </a:solidFill>
                <a:latin typeface="Poppins"/>
              </a:rPr>
              <a:t>Navigation that maps to Murdoch's internal ownership structure, not how a prospective student thinks.</a:t>
            </a:r>
          </a:p>
        </p:txBody>
      </p:sp>
      <p:sp>
        <p:nvSpPr>
          <p:cNvPr id="14" name="Rectangle 13"/>
          <p:cNvSpPr/>
          <p:nvPr/>
        </p:nvSpPr>
        <p:spPr>
          <a:xfrm>
            <a:off x="6080760" y="4828032"/>
            <a:ext cx="64008" cy="64008"/>
          </a:xfrm>
          <a:prstGeom prst="rect">
            <a:avLst/>
          </a:prstGeom>
          <a:solidFill>
            <a:srgbClr val="C820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63640" y="4700016"/>
            <a:ext cx="4937760" cy="1554480"/>
          </a:xfrm>
          <a:prstGeom prst="rect">
            <a:avLst/>
          </a:prstGeom>
          <a:noFill/>
        </p:spPr>
        <p:txBody>
          <a:bodyPr wrap="square">
            <a:spAutoFit/>
          </a:bodyPr>
          <a:lstStyle/>
          <a:p>
            <a:pPr algn="l">
              <a:spcAft>
                <a:spcPts val="400"/>
              </a:spcAft>
            </a:pPr>
            <a:r>
              <a:rPr sz="1300" b="1" i="0">
                <a:solidFill>
                  <a:srgbClr val="212121"/>
                </a:solidFill>
                <a:latin typeface="Poppins"/>
              </a:rPr>
              <a:t>Every unanswered question</a:t>
            </a:r>
          </a:p>
          <a:p>
            <a:pPr algn="l"/>
            <a:r>
              <a:rPr sz="1200" b="0" i="0">
                <a:solidFill>
                  <a:srgbClr val="616161"/>
                </a:solidFill>
                <a:latin typeface="Poppins"/>
              </a:rPr>
              <a:t>Erodes confidence in Murdoch. That erosion is structural, not incidental.</a:t>
            </a:r>
          </a:p>
        </p:txBody>
      </p:sp>
      <p:sp>
        <p:nvSpPr>
          <p:cNvPr id="16" name="Rectangle 15"/>
          <p:cNvSpPr/>
          <p:nvPr/>
        </p:nvSpPr>
        <p:spPr>
          <a:xfrm>
            <a:off x="5897880" y="1325880"/>
            <a:ext cx="18288" cy="50292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94360" y="6473952"/>
            <a:ext cx="11002975" cy="292608"/>
          </a:xfrm>
          <a:prstGeom prst="rect">
            <a:avLst/>
          </a:prstGeom>
          <a:noFill/>
        </p:spPr>
        <p:txBody>
          <a:bodyPr wrap="square">
            <a:spAutoFit/>
          </a:bodyPr>
          <a:lstStyle/>
          <a:p>
            <a:pPr algn="l"/>
            <a:r>
              <a:rPr sz="900" b="0" i="1">
                <a:solidFill>
                  <a:srgbClr val="9E9E9E"/>
                </a:solidFill>
                <a:latin typeface="Poppins"/>
              </a:rPr>
              <a:t>[ Insert: side-by-side Study vs Explore page — annotated with ownership labels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57200"/>
            <a:ext cx="11002975" cy="640080"/>
          </a:xfrm>
          <a:prstGeom prst="rect">
            <a:avLst/>
          </a:prstGeom>
          <a:noFill/>
        </p:spPr>
        <p:txBody>
          <a:bodyPr wrap="none">
            <a:spAutoFit/>
          </a:bodyPr>
          <a:lstStyle/>
          <a:p>
            <a:pPr algn="l"/>
            <a:r>
              <a:rPr sz="2400" b="1" i="0">
                <a:solidFill>
                  <a:srgbClr val="212121"/>
                </a:solidFill>
                <a:latin typeface="Poppins"/>
              </a:rPr>
              <a:t>Three Cohorts, One Problem</a:t>
            </a:r>
          </a:p>
        </p:txBody>
      </p:sp>
      <p:sp>
        <p:nvSpPr>
          <p:cNvPr id="3" name="Rectangle 2"/>
          <p:cNvSpPr/>
          <p:nvPr/>
        </p:nvSpPr>
        <p:spPr>
          <a:xfrm>
            <a:off x="594360" y="1188720"/>
            <a:ext cx="11002975" cy="45720"/>
          </a:xfrm>
          <a:prstGeom prst="rect">
            <a:avLst/>
          </a:prstGeom>
          <a:solidFill>
            <a:srgbClr val="C820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94360" y="1298448"/>
            <a:ext cx="3547872" cy="498348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94360" y="1298448"/>
            <a:ext cx="3547872" cy="54864"/>
          </a:xfrm>
          <a:prstGeom prst="rect">
            <a:avLst/>
          </a:prstGeom>
          <a:solidFill>
            <a:srgbClr val="009C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481328"/>
            <a:ext cx="3090672" cy="457200"/>
          </a:xfrm>
          <a:prstGeom prst="rect">
            <a:avLst/>
          </a:prstGeom>
          <a:noFill/>
        </p:spPr>
        <p:txBody>
          <a:bodyPr wrap="square">
            <a:spAutoFit/>
          </a:bodyPr>
          <a:lstStyle/>
          <a:p>
            <a:pPr algn="l"/>
            <a:r>
              <a:rPr sz="1600" b="1" i="0">
                <a:solidFill>
                  <a:srgbClr val="009C98"/>
                </a:solidFill>
                <a:latin typeface="Poppins"/>
              </a:rPr>
              <a:t>School Leavers</a:t>
            </a:r>
          </a:p>
        </p:txBody>
      </p:sp>
      <p:sp>
        <p:nvSpPr>
          <p:cNvPr id="7" name="TextBox 6"/>
          <p:cNvSpPr txBox="1"/>
          <p:nvPr/>
        </p:nvSpPr>
        <p:spPr>
          <a:xfrm>
            <a:off x="822960" y="1956816"/>
            <a:ext cx="3090672" cy="502920"/>
          </a:xfrm>
          <a:prstGeom prst="rect">
            <a:avLst/>
          </a:prstGeom>
          <a:noFill/>
        </p:spPr>
        <p:txBody>
          <a:bodyPr wrap="square">
            <a:spAutoFit/>
          </a:bodyPr>
          <a:lstStyle/>
          <a:p>
            <a:pPr algn="l"/>
            <a:r>
              <a:rPr sz="1200" b="0" i="1">
                <a:solidFill>
                  <a:srgbClr val="616161"/>
                </a:solidFill>
                <a:latin typeface="Poppins"/>
              </a:rPr>
              <a:t>Comparing 3–5 institutions under real time pressure.</a:t>
            </a:r>
          </a:p>
        </p:txBody>
      </p:sp>
      <p:sp>
        <p:nvSpPr>
          <p:cNvPr id="8" name="Rectangle 7"/>
          <p:cNvSpPr/>
          <p:nvPr/>
        </p:nvSpPr>
        <p:spPr>
          <a:xfrm>
            <a:off x="822960" y="2505456"/>
            <a:ext cx="3090672" cy="18288"/>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624328"/>
            <a:ext cx="3090672" cy="3474720"/>
          </a:xfrm>
          <a:prstGeom prst="rect">
            <a:avLst/>
          </a:prstGeom>
          <a:noFill/>
        </p:spPr>
        <p:txBody>
          <a:bodyPr wrap="square">
            <a:spAutoFit/>
          </a:bodyPr>
          <a:lstStyle/>
          <a:p>
            <a:pPr algn="l">
              <a:spcAft>
                <a:spcPts val="800"/>
              </a:spcAft>
            </a:pPr>
            <a:r>
              <a:rPr sz="1200" b="0" i="0">
                <a:solidFill>
                  <a:srgbClr val="212121"/>
                </a:solidFill>
                <a:latin typeface="Poppins"/>
              </a:rPr>
              <a:t>• Want instant answers — ATAR cutoffs, first-year experience, scholarship eligibility.</a:t>
            </a:r>
          </a:p>
          <a:p>
            <a:pPr algn="l">
              <a:spcAft>
                <a:spcPts val="800"/>
              </a:spcAft>
            </a:pPr>
            <a:r>
              <a:rPr sz="1200" b="0" i="0">
                <a:solidFill>
                  <a:srgbClr val="212121"/>
                </a:solidFill>
                <a:latin typeface="Poppins"/>
              </a:rPr>
              <a:t>• When the site doesn't answer immediately, they move on.</a:t>
            </a:r>
          </a:p>
          <a:p>
            <a:pPr algn="l">
              <a:spcAft>
                <a:spcPts val="800"/>
              </a:spcAft>
            </a:pPr>
            <a:r>
              <a:rPr sz="1200" b="0" i="0">
                <a:solidFill>
                  <a:srgbClr val="212121"/>
                </a:solidFill>
                <a:latin typeface="Poppins"/>
              </a:rPr>
              <a:t>• The next university that answers them wins.</a:t>
            </a:r>
          </a:p>
        </p:txBody>
      </p:sp>
      <p:sp>
        <p:nvSpPr>
          <p:cNvPr id="10" name="Rectangle 9"/>
          <p:cNvSpPr/>
          <p:nvPr/>
        </p:nvSpPr>
        <p:spPr>
          <a:xfrm>
            <a:off x="4306824" y="1298448"/>
            <a:ext cx="3547872" cy="498348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06824" y="1298448"/>
            <a:ext cx="3547872" cy="54864"/>
          </a:xfrm>
          <a:prstGeom prst="rect">
            <a:avLst/>
          </a:prstGeom>
          <a:solidFill>
            <a:srgbClr val="C820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35424" y="1481328"/>
            <a:ext cx="3090672" cy="457200"/>
          </a:xfrm>
          <a:prstGeom prst="rect">
            <a:avLst/>
          </a:prstGeom>
          <a:noFill/>
        </p:spPr>
        <p:txBody>
          <a:bodyPr wrap="square">
            <a:spAutoFit/>
          </a:bodyPr>
          <a:lstStyle/>
          <a:p>
            <a:pPr algn="l"/>
            <a:r>
              <a:rPr sz="1600" b="1" i="0">
                <a:solidFill>
                  <a:srgbClr val="C8203A"/>
                </a:solidFill>
                <a:latin typeface="Poppins"/>
              </a:rPr>
              <a:t>Mature-Age Students</a:t>
            </a:r>
          </a:p>
        </p:txBody>
      </p:sp>
      <p:sp>
        <p:nvSpPr>
          <p:cNvPr id="13" name="TextBox 12"/>
          <p:cNvSpPr txBox="1"/>
          <p:nvPr/>
        </p:nvSpPr>
        <p:spPr>
          <a:xfrm>
            <a:off x="4535424" y="1956816"/>
            <a:ext cx="3090672" cy="502920"/>
          </a:xfrm>
          <a:prstGeom prst="rect">
            <a:avLst/>
          </a:prstGeom>
          <a:noFill/>
        </p:spPr>
        <p:txBody>
          <a:bodyPr wrap="square">
            <a:spAutoFit/>
          </a:bodyPr>
          <a:lstStyle/>
          <a:p>
            <a:pPr algn="l"/>
            <a:r>
              <a:rPr sz="1200" b="0" i="1">
                <a:solidFill>
                  <a:srgbClr val="616161"/>
                </a:solidFill>
                <a:latin typeface="Poppins"/>
              </a:rPr>
              <a:t>Returning after a career or life break.</a:t>
            </a:r>
          </a:p>
        </p:txBody>
      </p:sp>
      <p:sp>
        <p:nvSpPr>
          <p:cNvPr id="14" name="Rectangle 13"/>
          <p:cNvSpPr/>
          <p:nvPr/>
        </p:nvSpPr>
        <p:spPr>
          <a:xfrm>
            <a:off x="4535424" y="2505456"/>
            <a:ext cx="3090672" cy="18288"/>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35424" y="2624328"/>
            <a:ext cx="3090672" cy="3474720"/>
          </a:xfrm>
          <a:prstGeom prst="rect">
            <a:avLst/>
          </a:prstGeom>
          <a:noFill/>
        </p:spPr>
        <p:txBody>
          <a:bodyPr wrap="square">
            <a:spAutoFit/>
          </a:bodyPr>
          <a:lstStyle/>
          <a:p>
            <a:pPr algn="l">
              <a:spcAft>
                <a:spcPts val="800"/>
              </a:spcAft>
            </a:pPr>
            <a:r>
              <a:rPr sz="1200" b="0" i="0">
                <a:solidFill>
                  <a:srgbClr val="212121"/>
                </a:solidFill>
                <a:latin typeface="Poppins"/>
              </a:rPr>
              <a:t>• Carry specific anxieties about belonging, eligibility, and whether prior experience counts.</a:t>
            </a:r>
          </a:p>
          <a:p>
            <a:pPr algn="l">
              <a:spcAft>
                <a:spcPts val="800"/>
              </a:spcAft>
            </a:pPr>
            <a:r>
              <a:rPr sz="1200" b="0" i="0">
                <a:solidFill>
                  <a:srgbClr val="212121"/>
                </a:solidFill>
                <a:latin typeface="Poppins"/>
              </a:rPr>
              <a:t>• The site treats them the same as school leavers.</a:t>
            </a:r>
          </a:p>
          <a:p>
            <a:pPr algn="l">
              <a:spcAft>
                <a:spcPts val="800"/>
              </a:spcAft>
            </a:pPr>
            <a:r>
              <a:rPr sz="1200" b="0" i="0">
                <a:solidFill>
                  <a:srgbClr val="212121"/>
                </a:solidFill>
                <a:latin typeface="Poppins"/>
              </a:rPr>
              <a:t>• No signal that Murdoch understands their situation.</a:t>
            </a:r>
          </a:p>
        </p:txBody>
      </p:sp>
      <p:sp>
        <p:nvSpPr>
          <p:cNvPr id="16" name="Rectangle 15"/>
          <p:cNvSpPr/>
          <p:nvPr/>
        </p:nvSpPr>
        <p:spPr>
          <a:xfrm>
            <a:off x="8019288" y="1298448"/>
            <a:ext cx="3547872" cy="498348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19288" y="1298448"/>
            <a:ext cx="3547872" cy="54864"/>
          </a:xfrm>
          <a:prstGeom prst="rect">
            <a:avLst/>
          </a:prstGeom>
          <a:solidFill>
            <a:srgbClr val="4D32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47888" y="1481328"/>
            <a:ext cx="3090672" cy="457200"/>
          </a:xfrm>
          <a:prstGeom prst="rect">
            <a:avLst/>
          </a:prstGeom>
          <a:noFill/>
        </p:spPr>
        <p:txBody>
          <a:bodyPr wrap="square">
            <a:spAutoFit/>
          </a:bodyPr>
          <a:lstStyle/>
          <a:p>
            <a:pPr algn="l"/>
            <a:r>
              <a:rPr sz="1600" b="1" i="0">
                <a:solidFill>
                  <a:srgbClr val="4D3299"/>
                </a:solidFill>
                <a:latin typeface="Poppins"/>
              </a:rPr>
              <a:t>Growth Learners</a:t>
            </a:r>
          </a:p>
        </p:txBody>
      </p:sp>
      <p:sp>
        <p:nvSpPr>
          <p:cNvPr id="19" name="TextBox 18"/>
          <p:cNvSpPr txBox="1"/>
          <p:nvPr/>
        </p:nvSpPr>
        <p:spPr>
          <a:xfrm>
            <a:off x="8247888" y="1956816"/>
            <a:ext cx="3090672" cy="502920"/>
          </a:xfrm>
          <a:prstGeom prst="rect">
            <a:avLst/>
          </a:prstGeom>
          <a:noFill/>
        </p:spPr>
        <p:txBody>
          <a:bodyPr wrap="square">
            <a:spAutoFit/>
          </a:bodyPr>
          <a:lstStyle/>
          <a:p>
            <a:pPr algn="l"/>
            <a:r>
              <a:rPr sz="1200" b="0" i="1">
                <a:solidFill>
                  <a:srgbClr val="616161"/>
                </a:solidFill>
                <a:latin typeface="Poppins"/>
              </a:rPr>
              <a:t>International students &amp; career changers.</a:t>
            </a:r>
          </a:p>
        </p:txBody>
      </p:sp>
      <p:sp>
        <p:nvSpPr>
          <p:cNvPr id="20" name="Rectangle 19"/>
          <p:cNvSpPr/>
          <p:nvPr/>
        </p:nvSpPr>
        <p:spPr>
          <a:xfrm>
            <a:off x="8247888" y="2505456"/>
            <a:ext cx="3090672" cy="18288"/>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47888" y="2624328"/>
            <a:ext cx="3090672" cy="3474720"/>
          </a:xfrm>
          <a:prstGeom prst="rect">
            <a:avLst/>
          </a:prstGeom>
          <a:noFill/>
        </p:spPr>
        <p:txBody>
          <a:bodyPr wrap="square">
            <a:spAutoFit/>
          </a:bodyPr>
          <a:lstStyle/>
          <a:p>
            <a:pPr algn="l">
              <a:spcAft>
                <a:spcPts val="800"/>
              </a:spcAft>
            </a:pPr>
            <a:r>
              <a:rPr sz="1200" b="0" i="0">
                <a:solidFill>
                  <a:srgbClr val="212121"/>
                </a:solidFill>
                <a:latin typeface="Poppins"/>
              </a:rPr>
              <a:t>• Navigating complex pathway info — credit recognition, English requirements, bridging options.</a:t>
            </a:r>
          </a:p>
          <a:p>
            <a:pPr algn="l">
              <a:spcAft>
                <a:spcPts val="800"/>
              </a:spcAft>
            </a:pPr>
            <a:r>
              <a:rPr sz="1200" b="0" i="0">
                <a:solidFill>
                  <a:srgbClr val="212121"/>
                </a:solidFill>
                <a:latin typeface="Poppins"/>
              </a:rPr>
              <a:t>• Content scattered across disconnected pages.</a:t>
            </a:r>
          </a:p>
          <a:p>
            <a:pPr algn="l">
              <a:spcAft>
                <a:spcPts val="800"/>
              </a:spcAft>
            </a:pPr>
            <a:r>
              <a:rPr sz="1200" b="0" i="0">
                <a:solidFill>
                  <a:srgbClr val="212121"/>
                </a:solidFill>
                <a:latin typeface="Poppins"/>
              </a:rPr>
              <a:t>• High cognitive load, high-stakes decision.</a:t>
            </a:r>
          </a:p>
        </p:txBody>
      </p:sp>
      <p:sp>
        <p:nvSpPr>
          <p:cNvPr id="22" name="TextBox 21"/>
          <p:cNvSpPr txBox="1"/>
          <p:nvPr/>
        </p:nvSpPr>
        <p:spPr>
          <a:xfrm>
            <a:off x="594360" y="6473952"/>
            <a:ext cx="11002975" cy="292608"/>
          </a:xfrm>
          <a:prstGeom prst="rect">
            <a:avLst/>
          </a:prstGeom>
          <a:noFill/>
        </p:spPr>
        <p:txBody>
          <a:bodyPr wrap="square">
            <a:spAutoFit/>
          </a:bodyPr>
          <a:lstStyle/>
          <a:p>
            <a:pPr algn="l"/>
            <a:r>
              <a:rPr sz="900" b="0" i="1">
                <a:solidFill>
                  <a:srgbClr val="9E9E9E"/>
                </a:solidFill>
                <a:latin typeface="Poppins"/>
              </a:rPr>
              <a:t>[ Insert: journey map showing drop-off points between awareness and enquiry stages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57200"/>
            <a:ext cx="11002975" cy="640080"/>
          </a:xfrm>
          <a:prstGeom prst="rect">
            <a:avLst/>
          </a:prstGeom>
          <a:noFill/>
        </p:spPr>
        <p:txBody>
          <a:bodyPr wrap="none">
            <a:spAutoFit/>
          </a:bodyPr>
          <a:lstStyle/>
          <a:p>
            <a:pPr algn="l"/>
            <a:r>
              <a:rPr sz="2400" b="1" i="0">
                <a:solidFill>
                  <a:srgbClr val="212121"/>
                </a:solidFill>
                <a:latin typeface="Poppins"/>
              </a:rPr>
              <a:t>This Cohort Has Already Moved On From Your Website</a:t>
            </a:r>
          </a:p>
        </p:txBody>
      </p:sp>
      <p:sp>
        <p:nvSpPr>
          <p:cNvPr id="3" name="Rectangle 2"/>
          <p:cNvSpPr/>
          <p:nvPr/>
        </p:nvSpPr>
        <p:spPr>
          <a:xfrm>
            <a:off x="594360" y="1188720"/>
            <a:ext cx="11002975" cy="45720"/>
          </a:xfrm>
          <a:prstGeom prst="rect">
            <a:avLst/>
          </a:prstGeom>
          <a:solidFill>
            <a:srgbClr val="C820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94360" y="1325880"/>
            <a:ext cx="5440680" cy="265176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94360" y="1325880"/>
            <a:ext cx="5440680" cy="54864"/>
          </a:xfrm>
          <a:prstGeom prst="rect">
            <a:avLst/>
          </a:prstGeom>
          <a:solidFill>
            <a:srgbClr val="C820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508760"/>
            <a:ext cx="4983480" cy="1005840"/>
          </a:xfrm>
          <a:prstGeom prst="rect">
            <a:avLst/>
          </a:prstGeom>
          <a:noFill/>
        </p:spPr>
        <p:txBody>
          <a:bodyPr wrap="square">
            <a:spAutoFit/>
          </a:bodyPr>
          <a:lstStyle/>
          <a:p>
            <a:pPr algn="l"/>
            <a:r>
              <a:rPr sz="6400" b="1" i="0">
                <a:solidFill>
                  <a:srgbClr val="C8203A"/>
                </a:solidFill>
                <a:latin typeface="Poppins"/>
              </a:rPr>
              <a:t>2 in 3</a:t>
            </a:r>
          </a:p>
        </p:txBody>
      </p:sp>
      <p:sp>
        <p:nvSpPr>
          <p:cNvPr id="7" name="TextBox 6"/>
          <p:cNvSpPr txBox="1"/>
          <p:nvPr/>
        </p:nvSpPr>
        <p:spPr>
          <a:xfrm>
            <a:off x="868680" y="2560320"/>
            <a:ext cx="4983480" cy="777240"/>
          </a:xfrm>
          <a:prstGeom prst="rect">
            <a:avLst/>
          </a:prstGeom>
          <a:noFill/>
        </p:spPr>
        <p:txBody>
          <a:bodyPr wrap="square">
            <a:spAutoFit/>
          </a:bodyPr>
          <a:lstStyle/>
          <a:p>
            <a:pPr algn="l">
              <a:spcAft>
                <a:spcPts val="400"/>
              </a:spcAft>
            </a:pPr>
            <a:r>
              <a:rPr sz="1300" b="0" i="0">
                <a:solidFill>
                  <a:srgbClr val="212121"/>
                </a:solidFill>
                <a:latin typeface="Poppins"/>
              </a:rPr>
              <a:t>prospective students prefer AI-powered search over Google when researching universities</a:t>
            </a:r>
          </a:p>
          <a:p>
            <a:pPr algn="l"/>
            <a:r>
              <a:rPr sz="1000" b="0" i="1">
                <a:solidFill>
                  <a:srgbClr val="9E9E9E"/>
                </a:solidFill>
                <a:latin typeface="Poppins"/>
              </a:rPr>
              <a:t>Everspring, 2025  —  450,000+ student search sessions analysed</a:t>
            </a:r>
          </a:p>
        </p:txBody>
      </p:sp>
      <p:sp>
        <p:nvSpPr>
          <p:cNvPr id="8" name="Rectangle 7"/>
          <p:cNvSpPr/>
          <p:nvPr/>
        </p:nvSpPr>
        <p:spPr>
          <a:xfrm>
            <a:off x="6355080" y="1325880"/>
            <a:ext cx="5440680" cy="265176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355080" y="1325880"/>
            <a:ext cx="5440680" cy="54864"/>
          </a:xfrm>
          <a:prstGeom prst="rect">
            <a:avLst/>
          </a:prstGeom>
          <a:solidFill>
            <a:srgbClr val="009C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29400" y="1508760"/>
            <a:ext cx="4983480" cy="868680"/>
          </a:xfrm>
          <a:prstGeom prst="rect">
            <a:avLst/>
          </a:prstGeom>
          <a:noFill/>
        </p:spPr>
        <p:txBody>
          <a:bodyPr wrap="square">
            <a:spAutoFit/>
          </a:bodyPr>
          <a:lstStyle/>
          <a:p>
            <a:pPr algn="l"/>
            <a:r>
              <a:rPr sz="4800" b="1" i="0">
                <a:solidFill>
                  <a:srgbClr val="009C98"/>
                </a:solidFill>
                <a:latin typeface="Poppins"/>
              </a:rPr>
              <a:t>4%  →  23%</a:t>
            </a:r>
          </a:p>
        </p:txBody>
      </p:sp>
      <p:sp>
        <p:nvSpPr>
          <p:cNvPr id="11" name="TextBox 10"/>
          <p:cNvSpPr txBox="1"/>
          <p:nvPr/>
        </p:nvSpPr>
        <p:spPr>
          <a:xfrm>
            <a:off x="6629400" y="2423160"/>
            <a:ext cx="4983480" cy="914400"/>
          </a:xfrm>
          <a:prstGeom prst="rect">
            <a:avLst/>
          </a:prstGeom>
          <a:noFill/>
        </p:spPr>
        <p:txBody>
          <a:bodyPr wrap="square">
            <a:spAutoFit/>
          </a:bodyPr>
          <a:lstStyle/>
          <a:p>
            <a:pPr algn="l">
              <a:spcAft>
                <a:spcPts val="400"/>
              </a:spcAft>
            </a:pPr>
            <a:r>
              <a:rPr sz="1300" b="0" i="0">
                <a:solidFill>
                  <a:srgbClr val="212121"/>
                </a:solidFill>
                <a:latin typeface="Poppins"/>
              </a:rPr>
              <a:t>high school seniors using AI to research universities (2023 → 2025)</a:t>
            </a:r>
          </a:p>
          <a:p>
            <a:pPr algn="l"/>
            <a:r>
              <a:rPr sz="1000" b="0" i="1">
                <a:solidFill>
                  <a:srgbClr val="9E9E9E"/>
                </a:solidFill>
                <a:latin typeface="Poppins"/>
              </a:rPr>
              <a:t>Carnegie College Choice Trends Report, 2025  —  six-fold growth in two years</a:t>
            </a:r>
          </a:p>
        </p:txBody>
      </p:sp>
      <p:sp>
        <p:nvSpPr>
          <p:cNvPr id="12" name="TextBox 11"/>
          <p:cNvSpPr txBox="1"/>
          <p:nvPr/>
        </p:nvSpPr>
        <p:spPr>
          <a:xfrm>
            <a:off x="594360" y="4160520"/>
            <a:ext cx="11002975" cy="1600200"/>
          </a:xfrm>
          <a:prstGeom prst="rect">
            <a:avLst/>
          </a:prstGeom>
          <a:noFill/>
        </p:spPr>
        <p:txBody>
          <a:bodyPr wrap="square">
            <a:spAutoFit/>
          </a:bodyPr>
          <a:lstStyle/>
          <a:p>
            <a:pPr algn="l">
              <a:spcAft>
                <a:spcPts val="800"/>
              </a:spcAft>
            </a:pPr>
            <a:r>
              <a:rPr sz="1500" b="1" i="0">
                <a:solidFill>
                  <a:srgbClr val="212121"/>
                </a:solidFill>
                <a:latin typeface="Poppins"/>
              </a:rPr>
              <a:t>Education is the second-highest category for traffic referred by AI tools — behind only online services.</a:t>
            </a:r>
          </a:p>
          <a:p>
            <a:pPr algn="l"/>
            <a:r>
              <a:rPr sz="1300" b="0" i="0">
                <a:solidFill>
                  <a:srgbClr val="616161"/>
                </a:solidFill>
                <a:latin typeface="Poppins"/>
              </a:rPr>
              <a:t>This cohort is not waiting for universities to catch up. They are already asking AI what Murdoch offers, how to get in, and how it compares. The question is whether Murdoch's answers are the ones being surfaced.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212121"/>
        </a:solidFill>
        <a:effectLst/>
      </p:bgPr>
    </p:bg>
    <p:spTree>
      <p:nvGrpSpPr>
        <p:cNvPr id="1" name=""/>
        <p:cNvGrpSpPr/>
        <p:nvPr/>
      </p:nvGrpSpPr>
      <p:grpSpPr/>
      <p:sp>
        <p:nvSpPr>
          <p:cNvPr id="2" name="TextBox 1"/>
          <p:cNvSpPr txBox="1"/>
          <p:nvPr/>
        </p:nvSpPr>
        <p:spPr>
          <a:xfrm>
            <a:off x="6705295" y="685800"/>
            <a:ext cx="5486400" cy="5486400"/>
          </a:xfrm>
          <a:prstGeom prst="rect">
            <a:avLst/>
          </a:prstGeom>
          <a:noFill/>
        </p:spPr>
        <p:txBody>
          <a:bodyPr wrap="square">
            <a:spAutoFit/>
          </a:bodyPr>
          <a:lstStyle/>
          <a:p>
            <a:pPr algn="r"/>
            <a:r>
              <a:rPr sz="20000" b="1" i="0">
                <a:solidFill>
                  <a:srgbClr val="2D2D2D"/>
                </a:solidFill>
                <a:latin typeface="Poppins"/>
              </a:rPr>
              <a:t>02</a:t>
            </a:r>
          </a:p>
        </p:txBody>
      </p:sp>
      <p:sp>
        <p:nvSpPr>
          <p:cNvPr id="3" name="Rectangle 2"/>
          <p:cNvSpPr/>
          <p:nvPr/>
        </p:nvSpPr>
        <p:spPr>
          <a:xfrm>
            <a:off x="594360" y="2926080"/>
            <a:ext cx="1463040" cy="54864"/>
          </a:xfrm>
          <a:prstGeom prst="rect">
            <a:avLst/>
          </a:prstGeom>
          <a:solidFill>
            <a:srgbClr val="C820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3108960"/>
            <a:ext cx="7315200" cy="411480"/>
          </a:xfrm>
          <a:prstGeom prst="rect">
            <a:avLst/>
          </a:prstGeom>
          <a:noFill/>
        </p:spPr>
        <p:txBody>
          <a:bodyPr wrap="square">
            <a:spAutoFit/>
          </a:bodyPr>
          <a:lstStyle/>
          <a:p>
            <a:pPr algn="l"/>
            <a:r>
              <a:rPr sz="1400" b="1" i="0">
                <a:solidFill>
                  <a:srgbClr val="C8203A"/>
                </a:solidFill>
                <a:latin typeface="Poppins"/>
              </a:rPr>
              <a:t>02 /</a:t>
            </a:r>
          </a:p>
        </p:txBody>
      </p:sp>
      <p:sp>
        <p:nvSpPr>
          <p:cNvPr id="5" name="TextBox 4"/>
          <p:cNvSpPr txBox="1"/>
          <p:nvPr/>
        </p:nvSpPr>
        <p:spPr>
          <a:xfrm>
            <a:off x="594360" y="3566160"/>
            <a:ext cx="8229600" cy="1188720"/>
          </a:xfrm>
          <a:prstGeom prst="rect">
            <a:avLst/>
          </a:prstGeom>
          <a:noFill/>
        </p:spPr>
        <p:txBody>
          <a:bodyPr wrap="square">
            <a:spAutoFit/>
          </a:bodyPr>
          <a:lstStyle/>
          <a:p>
            <a:pPr algn="l"/>
            <a:r>
              <a:rPr sz="5200" b="1" i="0">
                <a:solidFill>
                  <a:srgbClr val="FFFFFF"/>
                </a:solidFill>
                <a:latin typeface="Poppins"/>
              </a:rPr>
              <a:t>The Solution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57200"/>
            <a:ext cx="11002975" cy="640080"/>
          </a:xfrm>
          <a:prstGeom prst="rect">
            <a:avLst/>
          </a:prstGeom>
          <a:noFill/>
        </p:spPr>
        <p:txBody>
          <a:bodyPr wrap="none">
            <a:spAutoFit/>
          </a:bodyPr>
          <a:lstStyle/>
          <a:p>
            <a:pPr algn="l"/>
            <a:r>
              <a:rPr sz="2400" b="1" i="0">
                <a:solidFill>
                  <a:srgbClr val="212121"/>
                </a:solidFill>
                <a:latin typeface="Poppins"/>
              </a:rPr>
              <a:t>What We've Built</a:t>
            </a:r>
          </a:p>
        </p:txBody>
      </p:sp>
      <p:sp>
        <p:nvSpPr>
          <p:cNvPr id="3" name="Rectangle 2"/>
          <p:cNvSpPr/>
          <p:nvPr/>
        </p:nvSpPr>
        <p:spPr>
          <a:xfrm>
            <a:off x="594360" y="1188720"/>
            <a:ext cx="11002975" cy="45720"/>
          </a:xfrm>
          <a:prstGeom prst="rect">
            <a:avLst/>
          </a:prstGeom>
          <a:solidFill>
            <a:srgbClr val="C820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298448"/>
            <a:ext cx="5120640" cy="566928"/>
          </a:xfrm>
          <a:prstGeom prst="rect">
            <a:avLst/>
          </a:prstGeom>
          <a:noFill/>
        </p:spPr>
        <p:txBody>
          <a:bodyPr wrap="square">
            <a:spAutoFit/>
          </a:bodyPr>
          <a:lstStyle/>
          <a:p>
            <a:pPr algn="l"/>
            <a:r>
              <a:rPr sz="1200" b="0" i="0">
                <a:solidFill>
                  <a:srgbClr val="616161"/>
                </a:solidFill>
                <a:latin typeface="Poppins"/>
              </a:rPr>
              <a:t>A working AI agent — built on Claude Sonnet, trained on Murdoch-specific content — that answers the questions prospective students are actually asking.</a:t>
            </a:r>
          </a:p>
        </p:txBody>
      </p:sp>
      <p:sp>
        <p:nvSpPr>
          <p:cNvPr id="5" name="TextBox 4"/>
          <p:cNvSpPr txBox="1"/>
          <p:nvPr/>
        </p:nvSpPr>
        <p:spPr>
          <a:xfrm>
            <a:off x="594360" y="1938528"/>
            <a:ext cx="5120640" cy="4160520"/>
          </a:xfrm>
          <a:prstGeom prst="rect">
            <a:avLst/>
          </a:prstGeom>
          <a:noFill/>
        </p:spPr>
        <p:txBody>
          <a:bodyPr wrap="square">
            <a:spAutoFit/>
          </a:bodyPr>
          <a:lstStyle/>
          <a:p>
            <a:pPr algn="l">
              <a:spcAft>
                <a:spcPts val="1000"/>
              </a:spcAft>
            </a:pPr>
            <a:r>
              <a:rPr sz="1200" b="0" i="0">
                <a:solidFill>
                  <a:srgbClr val="212121"/>
                </a:solidFill>
                <a:latin typeface="Poppins"/>
              </a:rPr>
              <a:t>• Streams responses in real time across courses, pathways, fees, entry requirements, and campus life</a:t>
            </a:r>
          </a:p>
          <a:p>
            <a:pPr algn="l">
              <a:spcAft>
                <a:spcPts val="1000"/>
              </a:spcAft>
            </a:pPr>
            <a:r>
              <a:rPr sz="1200" b="0" i="0">
                <a:solidFill>
                  <a:srgbClr val="212121"/>
                </a:solidFill>
                <a:latin typeface="Poppins"/>
              </a:rPr>
              <a:t>• Adapts to the apparent student cohort — mature-age vs school leaver responses differ accordingly</a:t>
            </a:r>
          </a:p>
          <a:p>
            <a:pPr algn="l">
              <a:spcAft>
                <a:spcPts val="1000"/>
              </a:spcAft>
            </a:pPr>
            <a:r>
              <a:rPr sz="1200" b="0" i="0">
                <a:solidFill>
                  <a:srgbClr val="212121"/>
                </a:solidFill>
                <a:latin typeface="Poppins"/>
              </a:rPr>
              <a:t>• Maintains context across a conversation — students don't repeat themselves</a:t>
            </a:r>
          </a:p>
          <a:p>
            <a:pPr algn="l">
              <a:spcAft>
                <a:spcPts val="1000"/>
              </a:spcAft>
            </a:pPr>
            <a:r>
              <a:rPr sz="1200" b="0" i="0">
                <a:solidFill>
                  <a:srgbClr val="212121"/>
                </a:solidFill>
                <a:latin typeface="Poppins"/>
              </a:rPr>
              <a:t>• Surfaces clear next steps: application links, campus tour bookings, advisor handoff</a:t>
            </a:r>
          </a:p>
          <a:p>
            <a:pPr algn="l">
              <a:spcAft>
                <a:spcPts val="1000"/>
              </a:spcAft>
            </a:pPr>
            <a:r>
              <a:rPr sz="1200" b="0" i="0">
                <a:solidFill>
                  <a:srgbClr val="212121"/>
                </a:solidFill>
                <a:latin typeface="Poppins"/>
              </a:rPr>
              <a:t>• Deployed within the Murdoch brand system — looks and sounds like Murdoch</a:t>
            </a:r>
          </a:p>
        </p:txBody>
      </p:sp>
      <p:sp>
        <p:nvSpPr>
          <p:cNvPr id="6" name="Rectangle 5"/>
          <p:cNvSpPr/>
          <p:nvPr/>
        </p:nvSpPr>
        <p:spPr>
          <a:xfrm>
            <a:off x="6080760" y="1298448"/>
            <a:ext cx="5516575" cy="4956048"/>
          </a:xfrm>
          <a:prstGeom prst="rect">
            <a:avLst/>
          </a:prstGeom>
          <a:solidFill>
            <a:srgbClr val="F5F5F5"/>
          </a:solidFill>
          <a:ln w="9525">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080760" y="3456432"/>
            <a:ext cx="5516575" cy="640080"/>
          </a:xfrm>
          <a:prstGeom prst="rect">
            <a:avLst/>
          </a:prstGeom>
          <a:noFill/>
        </p:spPr>
        <p:txBody>
          <a:bodyPr wrap="square">
            <a:spAutoFit/>
          </a:bodyPr>
          <a:lstStyle/>
          <a:p>
            <a:pPr algn="ctr"/>
            <a:r>
              <a:rPr sz="1000" b="0" i="1">
                <a:solidFill>
                  <a:srgbClr val="9E9E9E"/>
                </a:solidFill>
                <a:latin typeface="Poppins"/>
              </a:rPr>
              <a:t>[ Murdoch AI agent prototype
chat interface screenshot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212121"/>
        </a:solidFill>
        <a:effectLst/>
      </p:bgPr>
    </p:bg>
    <p:spTree>
      <p:nvGrpSpPr>
        <p:cNvPr id="1" name=""/>
        <p:cNvGrpSpPr/>
        <p:nvPr/>
      </p:nvGrpSpPr>
      <p:grpSpPr/>
      <p:sp>
        <p:nvSpPr>
          <p:cNvPr id="2" name="TextBox 1"/>
          <p:cNvSpPr txBox="1"/>
          <p:nvPr/>
        </p:nvSpPr>
        <p:spPr>
          <a:xfrm>
            <a:off x="457200" y="274320"/>
            <a:ext cx="11277295" cy="5029200"/>
          </a:xfrm>
          <a:prstGeom prst="rect">
            <a:avLst/>
          </a:prstGeom>
          <a:noFill/>
        </p:spPr>
        <p:txBody>
          <a:bodyPr wrap="square">
            <a:spAutoFit/>
          </a:bodyPr>
          <a:lstStyle/>
          <a:p>
            <a:pPr algn="ctr"/>
            <a:r>
              <a:rPr sz="21000" b="1" i="0">
                <a:solidFill>
                  <a:srgbClr val="2C2C2C"/>
                </a:solidFill>
                <a:latin typeface="Poppins"/>
              </a:rPr>
              <a:t>DEMO</a:t>
            </a:r>
          </a:p>
        </p:txBody>
      </p:sp>
      <p:sp>
        <p:nvSpPr>
          <p:cNvPr id="3" name="Rectangle 2"/>
          <p:cNvSpPr/>
          <p:nvPr/>
        </p:nvSpPr>
        <p:spPr>
          <a:xfrm>
            <a:off x="3840480" y="3401568"/>
            <a:ext cx="4480560" cy="45720"/>
          </a:xfrm>
          <a:prstGeom prst="rect">
            <a:avLst/>
          </a:prstGeom>
          <a:solidFill>
            <a:srgbClr val="C820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3566160"/>
            <a:ext cx="11002975" cy="548640"/>
          </a:xfrm>
          <a:prstGeom prst="rect">
            <a:avLst/>
          </a:prstGeom>
          <a:noFill/>
        </p:spPr>
        <p:txBody>
          <a:bodyPr wrap="square">
            <a:spAutoFit/>
          </a:bodyPr>
          <a:lstStyle/>
          <a:p>
            <a:pPr algn="ctr"/>
            <a:r>
              <a:rPr sz="3400" b="1" i="0">
                <a:solidFill>
                  <a:srgbClr val="FFFFFF"/>
                </a:solidFill>
                <a:latin typeface="Poppins"/>
              </a:rPr>
              <a:t>Live Demonstration</a:t>
            </a:r>
          </a:p>
        </p:txBody>
      </p:sp>
      <p:sp>
        <p:nvSpPr>
          <p:cNvPr id="5" name="TextBox 4"/>
          <p:cNvSpPr txBox="1"/>
          <p:nvPr/>
        </p:nvSpPr>
        <p:spPr>
          <a:xfrm>
            <a:off x="2011680" y="4251960"/>
            <a:ext cx="8229600" cy="502920"/>
          </a:xfrm>
          <a:prstGeom prst="rect">
            <a:avLst/>
          </a:prstGeom>
          <a:noFill/>
        </p:spPr>
        <p:txBody>
          <a:bodyPr wrap="square">
            <a:spAutoFit/>
          </a:bodyPr>
          <a:lstStyle/>
          <a:p>
            <a:pPr algn="ctr"/>
            <a:r>
              <a:rPr sz="1400" b="0" i="0">
                <a:solidFill>
                  <a:srgbClr val="9E9E9E"/>
                </a:solidFill>
                <a:latin typeface="Poppins"/>
              </a:rPr>
              <a:t>Walking through a live session — showing how the agent handles
the queries your prospective students are actually asking.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212121"/>
        </a:solidFill>
        <a:effectLst/>
      </p:bgPr>
    </p:bg>
    <p:spTree>
      <p:nvGrpSpPr>
        <p:cNvPr id="1" name=""/>
        <p:cNvGrpSpPr/>
        <p:nvPr/>
      </p:nvGrpSpPr>
      <p:grpSpPr/>
      <p:sp>
        <p:nvSpPr>
          <p:cNvPr id="2" name="TextBox 1"/>
          <p:cNvSpPr txBox="1"/>
          <p:nvPr/>
        </p:nvSpPr>
        <p:spPr>
          <a:xfrm>
            <a:off x="6705295" y="685800"/>
            <a:ext cx="5486400" cy="5486400"/>
          </a:xfrm>
          <a:prstGeom prst="rect">
            <a:avLst/>
          </a:prstGeom>
          <a:noFill/>
        </p:spPr>
        <p:txBody>
          <a:bodyPr wrap="square">
            <a:spAutoFit/>
          </a:bodyPr>
          <a:lstStyle/>
          <a:p>
            <a:pPr algn="r"/>
            <a:r>
              <a:rPr sz="20000" b="1" i="0">
                <a:solidFill>
                  <a:srgbClr val="2D2D2D"/>
                </a:solidFill>
                <a:latin typeface="Poppins"/>
              </a:rPr>
              <a:t>03</a:t>
            </a:r>
          </a:p>
        </p:txBody>
      </p:sp>
      <p:sp>
        <p:nvSpPr>
          <p:cNvPr id="3" name="Rectangle 2"/>
          <p:cNvSpPr/>
          <p:nvPr/>
        </p:nvSpPr>
        <p:spPr>
          <a:xfrm>
            <a:off x="594360" y="2926080"/>
            <a:ext cx="1463040" cy="54864"/>
          </a:xfrm>
          <a:prstGeom prst="rect">
            <a:avLst/>
          </a:prstGeom>
          <a:solidFill>
            <a:srgbClr val="C820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3108960"/>
            <a:ext cx="7315200" cy="411480"/>
          </a:xfrm>
          <a:prstGeom prst="rect">
            <a:avLst/>
          </a:prstGeom>
          <a:noFill/>
        </p:spPr>
        <p:txBody>
          <a:bodyPr wrap="square">
            <a:spAutoFit/>
          </a:bodyPr>
          <a:lstStyle/>
          <a:p>
            <a:pPr algn="l"/>
            <a:r>
              <a:rPr sz="1400" b="1" i="0">
                <a:solidFill>
                  <a:srgbClr val="C8203A"/>
                </a:solidFill>
                <a:latin typeface="Poppins"/>
              </a:rPr>
              <a:t>03 /</a:t>
            </a:r>
          </a:p>
        </p:txBody>
      </p:sp>
      <p:sp>
        <p:nvSpPr>
          <p:cNvPr id="5" name="TextBox 4"/>
          <p:cNvSpPr txBox="1"/>
          <p:nvPr/>
        </p:nvSpPr>
        <p:spPr>
          <a:xfrm>
            <a:off x="594360" y="3566160"/>
            <a:ext cx="8229600" cy="1188720"/>
          </a:xfrm>
          <a:prstGeom prst="rect">
            <a:avLst/>
          </a:prstGeom>
          <a:noFill/>
        </p:spPr>
        <p:txBody>
          <a:bodyPr wrap="square">
            <a:spAutoFit/>
          </a:bodyPr>
          <a:lstStyle/>
          <a:p>
            <a:pPr algn="l"/>
            <a:r>
              <a:rPr sz="5200" b="1" i="0">
                <a:solidFill>
                  <a:srgbClr val="FFFFFF"/>
                </a:solidFill>
                <a:latin typeface="Poppins"/>
              </a:rPr>
              <a:t>From PoC to Production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57200"/>
            <a:ext cx="11002975" cy="640080"/>
          </a:xfrm>
          <a:prstGeom prst="rect">
            <a:avLst/>
          </a:prstGeom>
          <a:noFill/>
        </p:spPr>
        <p:txBody>
          <a:bodyPr wrap="none">
            <a:spAutoFit/>
          </a:bodyPr>
          <a:lstStyle/>
          <a:p>
            <a:pPr algn="l"/>
            <a:r>
              <a:rPr sz="2400" b="1" i="0">
                <a:solidFill>
                  <a:srgbClr val="212121"/>
                </a:solidFill>
                <a:latin typeface="Poppins"/>
              </a:rPr>
              <a:t>A Knowledge Platform, Not a Chatbot</a:t>
            </a:r>
          </a:p>
        </p:txBody>
      </p:sp>
      <p:sp>
        <p:nvSpPr>
          <p:cNvPr id="3" name="Rectangle 2"/>
          <p:cNvSpPr/>
          <p:nvPr/>
        </p:nvSpPr>
        <p:spPr>
          <a:xfrm>
            <a:off x="594360" y="1188720"/>
            <a:ext cx="11002975" cy="45720"/>
          </a:xfrm>
          <a:prstGeom prst="rect">
            <a:avLst/>
          </a:prstGeom>
          <a:solidFill>
            <a:srgbClr val="C820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280160"/>
            <a:ext cx="8046720" cy="384048"/>
          </a:xfrm>
          <a:prstGeom prst="rect">
            <a:avLst/>
          </a:prstGeom>
          <a:noFill/>
        </p:spPr>
        <p:txBody>
          <a:bodyPr wrap="square">
            <a:spAutoFit/>
          </a:bodyPr>
          <a:lstStyle/>
          <a:p>
            <a:pPr algn="l"/>
            <a:r>
              <a:rPr sz="1200" b="0" i="0">
                <a:solidFill>
                  <a:srgbClr val="616161"/>
                </a:solidFill>
                <a:latin typeface="Poppins"/>
              </a:rPr>
              <a:t>The prototype draws from a curated knowledge base. The production platform connects to authoritative source systems — live data, governed access, no manual updates required.</a:t>
            </a:r>
          </a:p>
        </p:txBody>
      </p:sp>
      <p:sp>
        <p:nvSpPr>
          <p:cNvPr id="5" name="Rectangle 4"/>
          <p:cNvSpPr/>
          <p:nvPr/>
        </p:nvSpPr>
        <p:spPr>
          <a:xfrm>
            <a:off x="594360" y="1737360"/>
            <a:ext cx="3474720" cy="521207"/>
          </a:xfrm>
          <a:prstGeom prst="rect">
            <a:avLst/>
          </a:prstGeom>
          <a:solidFill>
            <a:srgbClr val="2121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069080" y="1737360"/>
            <a:ext cx="4480559" cy="521207"/>
          </a:xfrm>
          <a:prstGeom prst="rect">
            <a:avLst/>
          </a:prstGeom>
          <a:solidFill>
            <a:srgbClr val="2121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04088" y="1828800"/>
            <a:ext cx="3474720" cy="521207"/>
          </a:xfrm>
          <a:prstGeom prst="rect">
            <a:avLst/>
          </a:prstGeom>
          <a:noFill/>
        </p:spPr>
        <p:txBody>
          <a:bodyPr wrap="square">
            <a:spAutoFit/>
          </a:bodyPr>
          <a:lstStyle/>
          <a:p>
            <a:pPr algn="l"/>
            <a:r>
              <a:rPr sz="1200" b="1" i="0">
                <a:solidFill>
                  <a:srgbClr val="FFFFFF"/>
                </a:solidFill>
                <a:latin typeface="Poppins"/>
              </a:rPr>
              <a:t>Source System</a:t>
            </a:r>
          </a:p>
        </p:txBody>
      </p:sp>
      <p:sp>
        <p:nvSpPr>
          <p:cNvPr id="8" name="TextBox 7"/>
          <p:cNvSpPr txBox="1"/>
          <p:nvPr/>
        </p:nvSpPr>
        <p:spPr>
          <a:xfrm>
            <a:off x="4178808" y="1828800"/>
            <a:ext cx="4480559" cy="521207"/>
          </a:xfrm>
          <a:prstGeom prst="rect">
            <a:avLst/>
          </a:prstGeom>
          <a:noFill/>
        </p:spPr>
        <p:txBody>
          <a:bodyPr wrap="square">
            <a:spAutoFit/>
          </a:bodyPr>
          <a:lstStyle/>
          <a:p>
            <a:pPr algn="l"/>
            <a:r>
              <a:rPr sz="1200" b="1" i="0">
                <a:solidFill>
                  <a:srgbClr val="FFFFFF"/>
                </a:solidFill>
                <a:latin typeface="Poppins"/>
              </a:rPr>
              <a:t>What It Enables</a:t>
            </a:r>
          </a:p>
        </p:txBody>
      </p:sp>
      <p:sp>
        <p:nvSpPr>
          <p:cNvPr id="9" name="Rectangle 8"/>
          <p:cNvSpPr/>
          <p:nvPr/>
        </p:nvSpPr>
        <p:spPr>
          <a:xfrm>
            <a:off x="594360" y="2258567"/>
            <a:ext cx="3474720" cy="521207"/>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069080" y="2258567"/>
            <a:ext cx="4480559" cy="521207"/>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94360" y="2258567"/>
            <a:ext cx="7955279" cy="9144"/>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04088" y="2350007"/>
            <a:ext cx="3291840" cy="429767"/>
          </a:xfrm>
          <a:prstGeom prst="rect">
            <a:avLst/>
          </a:prstGeom>
          <a:noFill/>
        </p:spPr>
        <p:txBody>
          <a:bodyPr wrap="square">
            <a:spAutoFit/>
          </a:bodyPr>
          <a:lstStyle/>
          <a:p>
            <a:pPr algn="l"/>
            <a:r>
              <a:rPr sz="1100" b="1" i="0">
                <a:solidFill>
                  <a:srgbClr val="212121"/>
                </a:solidFill>
                <a:latin typeface="Poppins"/>
              </a:rPr>
              <a:t>Course Management System</a:t>
            </a:r>
          </a:p>
        </p:txBody>
      </p:sp>
      <p:sp>
        <p:nvSpPr>
          <p:cNvPr id="13" name="TextBox 12"/>
          <p:cNvSpPr txBox="1"/>
          <p:nvPr/>
        </p:nvSpPr>
        <p:spPr>
          <a:xfrm>
            <a:off x="4178808" y="2350007"/>
            <a:ext cx="4297679" cy="429767"/>
          </a:xfrm>
          <a:prstGeom prst="rect">
            <a:avLst/>
          </a:prstGeom>
          <a:noFill/>
        </p:spPr>
        <p:txBody>
          <a:bodyPr wrap="square">
            <a:spAutoFit/>
          </a:bodyPr>
          <a:lstStyle/>
          <a:p>
            <a:pPr algn="l"/>
            <a:r>
              <a:rPr sz="1100" b="0" i="0">
                <a:solidFill>
                  <a:srgbClr val="616161"/>
                </a:solidFill>
                <a:latin typeface="Poppins"/>
              </a:rPr>
              <a:t>Live catalogue, units, prerequisites, fees</a:t>
            </a:r>
          </a:p>
        </p:txBody>
      </p:sp>
      <p:sp>
        <p:nvSpPr>
          <p:cNvPr id="14" name="Rectangle 13"/>
          <p:cNvSpPr/>
          <p:nvPr/>
        </p:nvSpPr>
        <p:spPr>
          <a:xfrm>
            <a:off x="594360" y="2779774"/>
            <a:ext cx="3474720" cy="521207"/>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069080" y="2779774"/>
            <a:ext cx="4480559" cy="521207"/>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94360" y="2779774"/>
            <a:ext cx="7955279" cy="9144"/>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04088" y="2871214"/>
            <a:ext cx="3291840" cy="429767"/>
          </a:xfrm>
          <a:prstGeom prst="rect">
            <a:avLst/>
          </a:prstGeom>
          <a:noFill/>
        </p:spPr>
        <p:txBody>
          <a:bodyPr wrap="square">
            <a:spAutoFit/>
          </a:bodyPr>
          <a:lstStyle/>
          <a:p>
            <a:pPr algn="l"/>
            <a:r>
              <a:rPr sz="1100" b="1" i="0">
                <a:solidFill>
                  <a:srgbClr val="212121"/>
                </a:solidFill>
                <a:latin typeface="Poppins"/>
              </a:rPr>
              <a:t>Admissions / Student Management</a:t>
            </a:r>
          </a:p>
        </p:txBody>
      </p:sp>
      <p:sp>
        <p:nvSpPr>
          <p:cNvPr id="18" name="TextBox 17"/>
          <p:cNvSpPr txBox="1"/>
          <p:nvPr/>
        </p:nvSpPr>
        <p:spPr>
          <a:xfrm>
            <a:off x="4178808" y="2871214"/>
            <a:ext cx="4297679" cy="429767"/>
          </a:xfrm>
          <a:prstGeom prst="rect">
            <a:avLst/>
          </a:prstGeom>
          <a:noFill/>
        </p:spPr>
        <p:txBody>
          <a:bodyPr wrap="square">
            <a:spAutoFit/>
          </a:bodyPr>
          <a:lstStyle/>
          <a:p>
            <a:pPr algn="l"/>
            <a:r>
              <a:rPr sz="1100" b="0" i="0">
                <a:solidFill>
                  <a:srgbClr val="616161"/>
                </a:solidFill>
                <a:latin typeface="Poppins"/>
              </a:rPr>
              <a:t>Entry requirements, ATAR cutoffs, application status</a:t>
            </a:r>
          </a:p>
        </p:txBody>
      </p:sp>
      <p:sp>
        <p:nvSpPr>
          <p:cNvPr id="19" name="Rectangle 18"/>
          <p:cNvSpPr/>
          <p:nvPr/>
        </p:nvSpPr>
        <p:spPr>
          <a:xfrm>
            <a:off x="594360" y="3300981"/>
            <a:ext cx="3474720" cy="521207"/>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069080" y="3300981"/>
            <a:ext cx="4480559" cy="521207"/>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94360" y="3300981"/>
            <a:ext cx="7955279" cy="9144"/>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04088" y="3392421"/>
            <a:ext cx="3291840" cy="429767"/>
          </a:xfrm>
          <a:prstGeom prst="rect">
            <a:avLst/>
          </a:prstGeom>
          <a:noFill/>
        </p:spPr>
        <p:txBody>
          <a:bodyPr wrap="square">
            <a:spAutoFit/>
          </a:bodyPr>
          <a:lstStyle/>
          <a:p>
            <a:pPr algn="l"/>
            <a:r>
              <a:rPr sz="1100" b="1" i="0">
                <a:solidFill>
                  <a:srgbClr val="212121"/>
                </a:solidFill>
                <a:latin typeface="Poppins"/>
              </a:rPr>
              <a:t>Scholarship Database</a:t>
            </a:r>
          </a:p>
        </p:txBody>
      </p:sp>
      <p:sp>
        <p:nvSpPr>
          <p:cNvPr id="23" name="TextBox 22"/>
          <p:cNvSpPr txBox="1"/>
          <p:nvPr/>
        </p:nvSpPr>
        <p:spPr>
          <a:xfrm>
            <a:off x="4178808" y="3392421"/>
            <a:ext cx="4297679" cy="429767"/>
          </a:xfrm>
          <a:prstGeom prst="rect">
            <a:avLst/>
          </a:prstGeom>
          <a:noFill/>
        </p:spPr>
        <p:txBody>
          <a:bodyPr wrap="square">
            <a:spAutoFit/>
          </a:bodyPr>
          <a:lstStyle/>
          <a:p>
            <a:pPr algn="l"/>
            <a:r>
              <a:rPr sz="1100" b="0" i="0">
                <a:solidFill>
                  <a:srgbClr val="616161"/>
                </a:solidFill>
                <a:latin typeface="Poppins"/>
              </a:rPr>
              <a:t>Eligibility criteria, deadlines, award amounts</a:t>
            </a:r>
          </a:p>
        </p:txBody>
      </p:sp>
      <p:sp>
        <p:nvSpPr>
          <p:cNvPr id="24" name="Rectangle 23"/>
          <p:cNvSpPr/>
          <p:nvPr/>
        </p:nvSpPr>
        <p:spPr>
          <a:xfrm>
            <a:off x="594360" y="3822188"/>
            <a:ext cx="3474720" cy="521207"/>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069080" y="3822188"/>
            <a:ext cx="4480559" cy="521207"/>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94360" y="3822188"/>
            <a:ext cx="7955279" cy="9144"/>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04088" y="3913628"/>
            <a:ext cx="3291840" cy="429767"/>
          </a:xfrm>
          <a:prstGeom prst="rect">
            <a:avLst/>
          </a:prstGeom>
          <a:noFill/>
        </p:spPr>
        <p:txBody>
          <a:bodyPr wrap="square">
            <a:spAutoFit/>
          </a:bodyPr>
          <a:lstStyle/>
          <a:p>
            <a:pPr algn="l"/>
            <a:r>
              <a:rPr sz="1100" b="1" i="0">
                <a:solidFill>
                  <a:srgbClr val="212121"/>
                </a:solidFill>
                <a:latin typeface="Poppins"/>
              </a:rPr>
              <a:t>RPL / Credit Transfer</a:t>
            </a:r>
          </a:p>
        </p:txBody>
      </p:sp>
      <p:sp>
        <p:nvSpPr>
          <p:cNvPr id="28" name="TextBox 27"/>
          <p:cNvSpPr txBox="1"/>
          <p:nvPr/>
        </p:nvSpPr>
        <p:spPr>
          <a:xfrm>
            <a:off x="4178808" y="3913628"/>
            <a:ext cx="4297679" cy="429767"/>
          </a:xfrm>
          <a:prstGeom prst="rect">
            <a:avLst/>
          </a:prstGeom>
          <a:noFill/>
        </p:spPr>
        <p:txBody>
          <a:bodyPr wrap="square">
            <a:spAutoFit/>
          </a:bodyPr>
          <a:lstStyle/>
          <a:p>
            <a:pPr algn="l"/>
            <a:r>
              <a:rPr sz="1100" b="0" i="0">
                <a:solidFill>
                  <a:srgbClr val="616161"/>
                </a:solidFill>
                <a:latin typeface="Poppins"/>
              </a:rPr>
              <a:t>Prior learning rules, credit mapping</a:t>
            </a:r>
          </a:p>
        </p:txBody>
      </p:sp>
      <p:sp>
        <p:nvSpPr>
          <p:cNvPr id="29" name="Rectangle 28"/>
          <p:cNvSpPr/>
          <p:nvPr/>
        </p:nvSpPr>
        <p:spPr>
          <a:xfrm>
            <a:off x="594360" y="4343395"/>
            <a:ext cx="3474720" cy="521207"/>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069080" y="4343395"/>
            <a:ext cx="4480559" cy="521207"/>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94360" y="4343395"/>
            <a:ext cx="7955279" cy="9144"/>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04088" y="4434835"/>
            <a:ext cx="3291840" cy="429767"/>
          </a:xfrm>
          <a:prstGeom prst="rect">
            <a:avLst/>
          </a:prstGeom>
          <a:noFill/>
        </p:spPr>
        <p:txBody>
          <a:bodyPr wrap="square">
            <a:spAutoFit/>
          </a:bodyPr>
          <a:lstStyle/>
          <a:p>
            <a:pPr algn="l"/>
            <a:r>
              <a:rPr sz="1100" b="1" i="0">
                <a:solidFill>
                  <a:srgbClr val="212121"/>
                </a:solidFill>
                <a:latin typeface="Poppins"/>
              </a:rPr>
              <a:t>International Office Systems</a:t>
            </a:r>
          </a:p>
        </p:txBody>
      </p:sp>
      <p:sp>
        <p:nvSpPr>
          <p:cNvPr id="33" name="TextBox 32"/>
          <p:cNvSpPr txBox="1"/>
          <p:nvPr/>
        </p:nvSpPr>
        <p:spPr>
          <a:xfrm>
            <a:off x="4178808" y="4434835"/>
            <a:ext cx="4297679" cy="429767"/>
          </a:xfrm>
          <a:prstGeom prst="rect">
            <a:avLst/>
          </a:prstGeom>
          <a:noFill/>
        </p:spPr>
        <p:txBody>
          <a:bodyPr wrap="square">
            <a:spAutoFit/>
          </a:bodyPr>
          <a:lstStyle/>
          <a:p>
            <a:pPr algn="l"/>
            <a:r>
              <a:rPr sz="1100" b="0" i="0">
                <a:solidFill>
                  <a:srgbClr val="616161"/>
                </a:solidFill>
                <a:latin typeface="Poppins"/>
              </a:rPr>
              <a:t>Visa pathways, English requirements, CRICOS, agent referrals</a:t>
            </a:r>
          </a:p>
        </p:txBody>
      </p:sp>
      <p:sp>
        <p:nvSpPr>
          <p:cNvPr id="34" name="Rectangle 33"/>
          <p:cNvSpPr/>
          <p:nvPr/>
        </p:nvSpPr>
        <p:spPr>
          <a:xfrm>
            <a:off x="594360" y="4864602"/>
            <a:ext cx="3474720" cy="521207"/>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4069080" y="4864602"/>
            <a:ext cx="4480559" cy="521207"/>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594360" y="4864602"/>
            <a:ext cx="7955279" cy="9144"/>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04088" y="4956042"/>
            <a:ext cx="3291840" cy="429767"/>
          </a:xfrm>
          <a:prstGeom prst="rect">
            <a:avLst/>
          </a:prstGeom>
          <a:noFill/>
        </p:spPr>
        <p:txBody>
          <a:bodyPr wrap="square">
            <a:spAutoFit/>
          </a:bodyPr>
          <a:lstStyle/>
          <a:p>
            <a:pPr algn="l"/>
            <a:r>
              <a:rPr sz="1100" b="1" i="0">
                <a:solidFill>
                  <a:srgbClr val="212121"/>
                </a:solidFill>
                <a:latin typeface="Poppins"/>
              </a:rPr>
              <a:t>Events &amp; Campus Services</a:t>
            </a:r>
          </a:p>
        </p:txBody>
      </p:sp>
      <p:sp>
        <p:nvSpPr>
          <p:cNvPr id="38" name="TextBox 37"/>
          <p:cNvSpPr txBox="1"/>
          <p:nvPr/>
        </p:nvSpPr>
        <p:spPr>
          <a:xfrm>
            <a:off x="4178808" y="4956042"/>
            <a:ext cx="4297679" cy="429767"/>
          </a:xfrm>
          <a:prstGeom prst="rect">
            <a:avLst/>
          </a:prstGeom>
          <a:noFill/>
        </p:spPr>
        <p:txBody>
          <a:bodyPr wrap="square">
            <a:spAutoFit/>
          </a:bodyPr>
          <a:lstStyle/>
          <a:p>
            <a:pPr algn="l"/>
            <a:r>
              <a:rPr sz="1100" b="0" i="0">
                <a:solidFill>
                  <a:srgbClr val="616161"/>
                </a:solidFill>
                <a:latin typeface="Poppins"/>
              </a:rPr>
              <a:t>Open days, tours, orientation, accommodation</a:t>
            </a:r>
          </a:p>
        </p:txBody>
      </p:sp>
      <p:sp>
        <p:nvSpPr>
          <p:cNvPr id="39" name="Rectangle 38"/>
          <p:cNvSpPr/>
          <p:nvPr/>
        </p:nvSpPr>
        <p:spPr>
          <a:xfrm>
            <a:off x="594360" y="5385809"/>
            <a:ext cx="3474720" cy="521207"/>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4069080" y="5385809"/>
            <a:ext cx="4480559" cy="521207"/>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594360" y="5385809"/>
            <a:ext cx="7955279" cy="9144"/>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04088" y="5477249"/>
            <a:ext cx="3291840" cy="429767"/>
          </a:xfrm>
          <a:prstGeom prst="rect">
            <a:avLst/>
          </a:prstGeom>
          <a:noFill/>
        </p:spPr>
        <p:txBody>
          <a:bodyPr wrap="square">
            <a:spAutoFit/>
          </a:bodyPr>
          <a:lstStyle/>
          <a:p>
            <a:pPr algn="l"/>
            <a:r>
              <a:rPr sz="1100" b="1" i="0">
                <a:solidFill>
                  <a:srgbClr val="212121"/>
                </a:solidFill>
                <a:latin typeface="Poppins"/>
              </a:rPr>
              <a:t>CRM (Salesforce / Dynamics)</a:t>
            </a:r>
          </a:p>
        </p:txBody>
      </p:sp>
      <p:sp>
        <p:nvSpPr>
          <p:cNvPr id="43" name="TextBox 42"/>
          <p:cNvSpPr txBox="1"/>
          <p:nvPr/>
        </p:nvSpPr>
        <p:spPr>
          <a:xfrm>
            <a:off x="4178808" y="5477249"/>
            <a:ext cx="4297679" cy="429767"/>
          </a:xfrm>
          <a:prstGeom prst="rect">
            <a:avLst/>
          </a:prstGeom>
          <a:noFill/>
        </p:spPr>
        <p:txBody>
          <a:bodyPr wrap="square">
            <a:spAutoFit/>
          </a:bodyPr>
          <a:lstStyle/>
          <a:p>
            <a:pPr algn="l"/>
            <a:r>
              <a:rPr sz="1100" b="0" i="0">
                <a:solidFill>
                  <a:srgbClr val="616161"/>
                </a:solidFill>
                <a:latin typeface="Poppins"/>
              </a:rPr>
              <a:t>Interaction history, lead status, advisor assignment</a:t>
            </a:r>
          </a:p>
        </p:txBody>
      </p:sp>
      <p:sp>
        <p:nvSpPr>
          <p:cNvPr id="44" name="Rectangle 43"/>
          <p:cNvSpPr/>
          <p:nvPr/>
        </p:nvSpPr>
        <p:spPr>
          <a:xfrm>
            <a:off x="8869679" y="1280160"/>
            <a:ext cx="2727656" cy="5029200"/>
          </a:xfrm>
          <a:prstGeom prst="rect">
            <a:avLst/>
          </a:prstGeom>
          <a:solidFill>
            <a:srgbClr val="F5F5F5"/>
          </a:solidFill>
          <a:ln w="9525">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869679" y="3474720"/>
            <a:ext cx="2727656" cy="640080"/>
          </a:xfrm>
          <a:prstGeom prst="rect">
            <a:avLst/>
          </a:prstGeom>
          <a:noFill/>
        </p:spPr>
        <p:txBody>
          <a:bodyPr wrap="square">
            <a:spAutoFit/>
          </a:bodyPr>
          <a:lstStyle/>
          <a:p>
            <a:pPr algn="ctr"/>
            <a:r>
              <a:rPr sz="1000" b="0" i="1">
                <a:solidFill>
                  <a:srgbClr val="9E9E9E"/>
                </a:solidFill>
                <a:latin typeface="Poppins"/>
              </a:rPr>
              <a:t>[ Architecture diagram:
Data sources →
Knowledge Platform →
Agent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57200"/>
            <a:ext cx="11002975" cy="640080"/>
          </a:xfrm>
          <a:prstGeom prst="rect">
            <a:avLst/>
          </a:prstGeom>
          <a:noFill/>
        </p:spPr>
        <p:txBody>
          <a:bodyPr wrap="none">
            <a:spAutoFit/>
          </a:bodyPr>
          <a:lstStyle/>
          <a:p>
            <a:pPr algn="l"/>
            <a:r>
              <a:rPr sz="2400" b="1" i="0">
                <a:solidFill>
                  <a:srgbClr val="212121"/>
                </a:solidFill>
                <a:latin typeface="Poppins"/>
              </a:rPr>
              <a:t>Production-Grade From Day One</a:t>
            </a:r>
          </a:p>
        </p:txBody>
      </p:sp>
      <p:sp>
        <p:nvSpPr>
          <p:cNvPr id="3" name="Rectangle 2"/>
          <p:cNvSpPr/>
          <p:nvPr/>
        </p:nvSpPr>
        <p:spPr>
          <a:xfrm>
            <a:off x="594360" y="1188720"/>
            <a:ext cx="11002975" cy="45720"/>
          </a:xfrm>
          <a:prstGeom prst="rect">
            <a:avLst/>
          </a:prstGeom>
          <a:solidFill>
            <a:srgbClr val="C820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94360" y="1298448"/>
            <a:ext cx="2679192" cy="498348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94360" y="1298448"/>
            <a:ext cx="2679192" cy="54864"/>
          </a:xfrm>
          <a:prstGeom prst="rect">
            <a:avLst/>
          </a:prstGeom>
          <a:solidFill>
            <a:srgbClr val="009C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463040"/>
            <a:ext cx="2313432" cy="457200"/>
          </a:xfrm>
          <a:prstGeom prst="rect">
            <a:avLst/>
          </a:prstGeom>
          <a:noFill/>
        </p:spPr>
        <p:txBody>
          <a:bodyPr wrap="square">
            <a:spAutoFit/>
          </a:bodyPr>
          <a:lstStyle/>
          <a:p>
            <a:pPr algn="l"/>
            <a:r>
              <a:rPr sz="1400" b="1" i="0">
                <a:solidFill>
                  <a:srgbClr val="009C98"/>
                </a:solidFill>
                <a:latin typeface="Poppins"/>
              </a:rPr>
              <a:t>Conversation Design</a:t>
            </a:r>
          </a:p>
        </p:txBody>
      </p:sp>
      <p:sp>
        <p:nvSpPr>
          <p:cNvPr id="7" name="Rectangle 6"/>
          <p:cNvSpPr/>
          <p:nvPr/>
        </p:nvSpPr>
        <p:spPr>
          <a:xfrm>
            <a:off x="777240" y="1993392"/>
            <a:ext cx="2313432" cy="18288"/>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121408"/>
            <a:ext cx="2313432" cy="3977640"/>
          </a:xfrm>
          <a:prstGeom prst="rect">
            <a:avLst/>
          </a:prstGeom>
          <a:noFill/>
        </p:spPr>
        <p:txBody>
          <a:bodyPr wrap="square">
            <a:spAutoFit/>
          </a:bodyPr>
          <a:lstStyle/>
          <a:p>
            <a:pPr algn="l">
              <a:spcAft>
                <a:spcPts val="900"/>
              </a:spcAft>
            </a:pPr>
            <a:r>
              <a:rPr sz="1150" b="0" i="0">
                <a:solidFill>
                  <a:srgbClr val="212121"/>
                </a:solidFill>
                <a:latin typeface="Poppins"/>
              </a:rPr>
              <a:t>• Formalised cohort flows</a:t>
            </a:r>
          </a:p>
          <a:p>
            <a:pPr algn="l">
              <a:spcAft>
                <a:spcPts val="900"/>
              </a:spcAft>
            </a:pPr>
            <a:r>
              <a:rPr sz="1150" b="0" i="0">
                <a:solidFill>
                  <a:srgbClr val="212121"/>
                </a:solidFill>
                <a:latin typeface="Poppins"/>
              </a:rPr>
              <a:t>• Escalation triggers</a:t>
            </a:r>
          </a:p>
          <a:p>
            <a:pPr algn="l">
              <a:spcAft>
                <a:spcPts val="900"/>
              </a:spcAft>
            </a:pPr>
            <a:r>
              <a:rPr sz="1150" b="0" i="0">
                <a:solidFill>
                  <a:srgbClr val="212121"/>
                </a:solidFill>
                <a:latin typeface="Poppins"/>
              </a:rPr>
              <a:t>• Brand voice governance</a:t>
            </a:r>
          </a:p>
          <a:p>
            <a:pPr algn="l">
              <a:spcAft>
                <a:spcPts val="900"/>
              </a:spcAft>
            </a:pPr>
            <a:r>
              <a:rPr sz="1150" b="0" i="0">
                <a:solidFill>
                  <a:srgbClr val="212121"/>
                </a:solidFill>
                <a:latin typeface="Poppins"/>
              </a:rPr>
              <a:t>• WCAG 2.1 AA accessibility</a:t>
            </a:r>
          </a:p>
        </p:txBody>
      </p:sp>
      <p:sp>
        <p:nvSpPr>
          <p:cNvPr id="9" name="Rectangle 8"/>
          <p:cNvSpPr/>
          <p:nvPr/>
        </p:nvSpPr>
        <p:spPr>
          <a:xfrm>
            <a:off x="3401568" y="1298448"/>
            <a:ext cx="2679192" cy="498348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401568" y="1298448"/>
            <a:ext cx="2679192" cy="54864"/>
          </a:xfrm>
          <a:prstGeom prst="rect">
            <a:avLst/>
          </a:prstGeom>
          <a:solidFill>
            <a:srgbClr val="C820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584448" y="1463040"/>
            <a:ext cx="2313432" cy="457200"/>
          </a:xfrm>
          <a:prstGeom prst="rect">
            <a:avLst/>
          </a:prstGeom>
          <a:noFill/>
        </p:spPr>
        <p:txBody>
          <a:bodyPr wrap="square">
            <a:spAutoFit/>
          </a:bodyPr>
          <a:lstStyle/>
          <a:p>
            <a:pPr algn="l"/>
            <a:r>
              <a:rPr sz="1400" b="1" i="0">
                <a:solidFill>
                  <a:srgbClr val="C8203A"/>
                </a:solidFill>
                <a:latin typeface="Poppins"/>
              </a:rPr>
              <a:t>Integration Layer</a:t>
            </a:r>
          </a:p>
        </p:txBody>
      </p:sp>
      <p:sp>
        <p:nvSpPr>
          <p:cNvPr id="12" name="Rectangle 11"/>
          <p:cNvSpPr/>
          <p:nvPr/>
        </p:nvSpPr>
        <p:spPr>
          <a:xfrm>
            <a:off x="3584448" y="1993392"/>
            <a:ext cx="2313432" cy="18288"/>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584448" y="2121408"/>
            <a:ext cx="2313432" cy="3977640"/>
          </a:xfrm>
          <a:prstGeom prst="rect">
            <a:avLst/>
          </a:prstGeom>
          <a:noFill/>
        </p:spPr>
        <p:txBody>
          <a:bodyPr wrap="square">
            <a:spAutoFit/>
          </a:bodyPr>
          <a:lstStyle/>
          <a:p>
            <a:pPr algn="l">
              <a:spcAft>
                <a:spcPts val="900"/>
              </a:spcAft>
            </a:pPr>
            <a:r>
              <a:rPr sz="1150" b="0" i="0">
                <a:solidFill>
                  <a:srgbClr val="212121"/>
                </a:solidFill>
                <a:latin typeface="Poppins"/>
              </a:rPr>
              <a:t>• CRM write-back for lead capture</a:t>
            </a:r>
          </a:p>
          <a:p>
            <a:pPr algn="l">
              <a:spcAft>
                <a:spcPts val="900"/>
              </a:spcAft>
            </a:pPr>
            <a:r>
              <a:rPr sz="1150" b="0" i="0">
                <a:solidFill>
                  <a:srgbClr val="212121"/>
                </a:solidFill>
                <a:latin typeface="Poppins"/>
              </a:rPr>
              <a:t>• Application system connection</a:t>
            </a:r>
          </a:p>
          <a:p>
            <a:pPr algn="l">
              <a:spcAft>
                <a:spcPts val="900"/>
              </a:spcAft>
            </a:pPr>
            <a:r>
              <a:rPr sz="1150" b="0" i="0">
                <a:solidFill>
                  <a:srgbClr val="212121"/>
                </a:solidFill>
                <a:latin typeface="Poppins"/>
              </a:rPr>
              <a:t>• Live advisor handoff with full context</a:t>
            </a:r>
          </a:p>
          <a:p>
            <a:pPr algn="l">
              <a:spcAft>
                <a:spcPts val="900"/>
              </a:spcAft>
            </a:pPr>
            <a:r>
              <a:rPr sz="1150" b="0" i="0">
                <a:solidFill>
                  <a:srgbClr val="212121"/>
                </a:solidFill>
                <a:latin typeface="Poppins"/>
              </a:rPr>
              <a:t>• Booking integration (tours, appointments)</a:t>
            </a:r>
          </a:p>
        </p:txBody>
      </p:sp>
      <p:sp>
        <p:nvSpPr>
          <p:cNvPr id="14" name="Rectangle 13"/>
          <p:cNvSpPr/>
          <p:nvPr/>
        </p:nvSpPr>
        <p:spPr>
          <a:xfrm>
            <a:off x="6208776" y="1298448"/>
            <a:ext cx="2679192" cy="498348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08776" y="1298448"/>
            <a:ext cx="2679192" cy="54864"/>
          </a:xfrm>
          <a:prstGeom prst="rect">
            <a:avLst/>
          </a:prstGeom>
          <a:solidFill>
            <a:srgbClr val="4D32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91656" y="1463040"/>
            <a:ext cx="2313432" cy="457200"/>
          </a:xfrm>
          <a:prstGeom prst="rect">
            <a:avLst/>
          </a:prstGeom>
          <a:noFill/>
        </p:spPr>
        <p:txBody>
          <a:bodyPr wrap="square">
            <a:spAutoFit/>
          </a:bodyPr>
          <a:lstStyle/>
          <a:p>
            <a:pPr algn="l"/>
            <a:r>
              <a:rPr sz="1400" b="1" i="0">
                <a:solidFill>
                  <a:srgbClr val="4D3299"/>
                </a:solidFill>
                <a:latin typeface="Poppins"/>
              </a:rPr>
              <a:t>Quality &amp; Governance</a:t>
            </a:r>
          </a:p>
        </p:txBody>
      </p:sp>
      <p:sp>
        <p:nvSpPr>
          <p:cNvPr id="17" name="Rectangle 16"/>
          <p:cNvSpPr/>
          <p:nvPr/>
        </p:nvSpPr>
        <p:spPr>
          <a:xfrm>
            <a:off x="6391656" y="1993392"/>
            <a:ext cx="2313432" cy="18288"/>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91656" y="2121408"/>
            <a:ext cx="2313432" cy="3977640"/>
          </a:xfrm>
          <a:prstGeom prst="rect">
            <a:avLst/>
          </a:prstGeom>
          <a:noFill/>
        </p:spPr>
        <p:txBody>
          <a:bodyPr wrap="square">
            <a:spAutoFit/>
          </a:bodyPr>
          <a:lstStyle/>
          <a:p>
            <a:pPr algn="l">
              <a:spcAft>
                <a:spcPts val="900"/>
              </a:spcAft>
            </a:pPr>
            <a:r>
              <a:rPr sz="1150" b="0" i="0">
                <a:solidFill>
                  <a:srgbClr val="212121"/>
                </a:solidFill>
                <a:latin typeface="Poppins"/>
              </a:rPr>
              <a:t>• Grounded responses with source citations</a:t>
            </a:r>
          </a:p>
          <a:p>
            <a:pPr algn="l">
              <a:spcAft>
                <a:spcPts val="900"/>
              </a:spcAft>
            </a:pPr>
            <a:r>
              <a:rPr sz="1150" b="0" i="0">
                <a:solidFill>
                  <a:srgbClr val="212121"/>
                </a:solidFill>
                <a:latin typeface="Poppins"/>
              </a:rPr>
              <a:t>• Hallucination detection &amp; confidence thresholds</a:t>
            </a:r>
          </a:p>
          <a:p>
            <a:pPr algn="l">
              <a:spcAft>
                <a:spcPts val="900"/>
              </a:spcAft>
            </a:pPr>
            <a:r>
              <a:rPr sz="1150" b="0" i="0">
                <a:solidFill>
                  <a:srgbClr val="212121"/>
                </a:solidFill>
                <a:latin typeface="Poppins"/>
              </a:rPr>
              <a:t>• Privacy Act compliance &amp; PII handling</a:t>
            </a:r>
          </a:p>
          <a:p>
            <a:pPr algn="l">
              <a:spcAft>
                <a:spcPts val="900"/>
              </a:spcAft>
            </a:pPr>
            <a:r>
              <a:rPr sz="1150" b="0" i="0">
                <a:solidFill>
                  <a:srgbClr val="212121"/>
                </a:solidFill>
                <a:latin typeface="Poppins"/>
              </a:rPr>
              <a:t>• Audit trail &amp; sensitive topic escalation</a:t>
            </a:r>
          </a:p>
        </p:txBody>
      </p:sp>
      <p:sp>
        <p:nvSpPr>
          <p:cNvPr id="19" name="Rectangle 18"/>
          <p:cNvSpPr/>
          <p:nvPr/>
        </p:nvSpPr>
        <p:spPr>
          <a:xfrm>
            <a:off x="9015984" y="1298448"/>
            <a:ext cx="2679192" cy="498348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9015984" y="1298448"/>
            <a:ext cx="2679192" cy="54864"/>
          </a:xfrm>
          <a:prstGeom prst="rect">
            <a:avLst/>
          </a:prstGeom>
          <a:solidFill>
            <a:srgbClr val="FF8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98864" y="1463040"/>
            <a:ext cx="2313432" cy="457200"/>
          </a:xfrm>
          <a:prstGeom prst="rect">
            <a:avLst/>
          </a:prstGeom>
          <a:noFill/>
        </p:spPr>
        <p:txBody>
          <a:bodyPr wrap="square">
            <a:spAutoFit/>
          </a:bodyPr>
          <a:lstStyle/>
          <a:p>
            <a:pPr algn="l"/>
            <a:r>
              <a:rPr sz="1400" b="1" i="0">
                <a:solidFill>
                  <a:srgbClr val="FF8400"/>
                </a:solidFill>
                <a:latin typeface="Poppins"/>
              </a:rPr>
              <a:t>Analytics Engine</a:t>
            </a:r>
          </a:p>
        </p:txBody>
      </p:sp>
      <p:sp>
        <p:nvSpPr>
          <p:cNvPr id="22" name="Rectangle 21"/>
          <p:cNvSpPr/>
          <p:nvPr/>
        </p:nvSpPr>
        <p:spPr>
          <a:xfrm>
            <a:off x="9198864" y="1993392"/>
            <a:ext cx="2313432" cy="18288"/>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198864" y="2121408"/>
            <a:ext cx="2313432" cy="3977640"/>
          </a:xfrm>
          <a:prstGeom prst="rect">
            <a:avLst/>
          </a:prstGeom>
          <a:noFill/>
        </p:spPr>
        <p:txBody>
          <a:bodyPr wrap="square">
            <a:spAutoFit/>
          </a:bodyPr>
          <a:lstStyle/>
          <a:p>
            <a:pPr algn="l">
              <a:spcAft>
                <a:spcPts val="900"/>
              </a:spcAft>
            </a:pPr>
            <a:r>
              <a:rPr sz="1150" b="0" i="0">
                <a:solidFill>
                  <a:srgbClr val="212121"/>
                </a:solidFill>
                <a:latin typeface="Poppins"/>
              </a:rPr>
              <a:t>• Real-time dashboard: volume, topics, satisfaction</a:t>
            </a:r>
          </a:p>
          <a:p>
            <a:pPr algn="l">
              <a:spcAft>
                <a:spcPts val="900"/>
              </a:spcAft>
            </a:pPr>
            <a:r>
              <a:rPr sz="1150" b="0" i="0">
                <a:solidFill>
                  <a:srgbClr val="212121"/>
                </a:solidFill>
                <a:latin typeface="Poppins"/>
              </a:rPr>
              <a:t>• Content gap detection from unanswered questions</a:t>
            </a:r>
          </a:p>
          <a:p>
            <a:pPr algn="l">
              <a:spcAft>
                <a:spcPts val="900"/>
              </a:spcAft>
            </a:pPr>
            <a:r>
              <a:rPr sz="1150" b="0" i="0">
                <a:solidFill>
                  <a:srgbClr val="212121"/>
                </a:solidFill>
                <a:latin typeface="Poppins"/>
              </a:rPr>
              <a:t>• Funnel attribution: chat → application → enrolment</a:t>
            </a:r>
          </a:p>
          <a:p>
            <a:pPr algn="l">
              <a:spcAft>
                <a:spcPts val="900"/>
              </a:spcAft>
            </a:pPr>
            <a:r>
              <a:rPr sz="1150" b="0" i="0">
                <a:solidFill>
                  <a:srgbClr val="212121"/>
                </a:solidFill>
                <a:latin typeface="Poppins"/>
              </a:rPr>
              <a:t>• A/B testing for conversation flows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212121"/>
        </a:solidFill>
        <a:effectLst/>
      </p:bgPr>
    </p:bg>
    <p:spTree>
      <p:nvGrpSpPr>
        <p:cNvPr id="1" name=""/>
        <p:cNvGrpSpPr/>
        <p:nvPr/>
      </p:nvGrpSpPr>
      <p:grpSpPr/>
      <p:sp>
        <p:nvSpPr>
          <p:cNvPr id="2" name="TextBox 1"/>
          <p:cNvSpPr txBox="1"/>
          <p:nvPr/>
        </p:nvSpPr>
        <p:spPr>
          <a:xfrm>
            <a:off x="6705295" y="685800"/>
            <a:ext cx="5486400" cy="5486400"/>
          </a:xfrm>
          <a:prstGeom prst="rect">
            <a:avLst/>
          </a:prstGeom>
          <a:noFill/>
        </p:spPr>
        <p:txBody>
          <a:bodyPr wrap="square">
            <a:spAutoFit/>
          </a:bodyPr>
          <a:lstStyle/>
          <a:p>
            <a:pPr algn="r"/>
            <a:r>
              <a:rPr sz="20000" b="1" i="0">
                <a:solidFill>
                  <a:srgbClr val="2D2D2D"/>
                </a:solidFill>
                <a:latin typeface="Poppins"/>
              </a:rPr>
              <a:t>04</a:t>
            </a:r>
          </a:p>
        </p:txBody>
      </p:sp>
      <p:sp>
        <p:nvSpPr>
          <p:cNvPr id="3" name="Rectangle 2"/>
          <p:cNvSpPr/>
          <p:nvPr/>
        </p:nvSpPr>
        <p:spPr>
          <a:xfrm>
            <a:off x="594360" y="2926080"/>
            <a:ext cx="1463040" cy="54864"/>
          </a:xfrm>
          <a:prstGeom prst="rect">
            <a:avLst/>
          </a:prstGeom>
          <a:solidFill>
            <a:srgbClr val="C820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3108960"/>
            <a:ext cx="7315200" cy="411480"/>
          </a:xfrm>
          <a:prstGeom prst="rect">
            <a:avLst/>
          </a:prstGeom>
          <a:noFill/>
        </p:spPr>
        <p:txBody>
          <a:bodyPr wrap="square">
            <a:spAutoFit/>
          </a:bodyPr>
          <a:lstStyle/>
          <a:p>
            <a:pPr algn="l"/>
            <a:r>
              <a:rPr sz="1400" b="1" i="0">
                <a:solidFill>
                  <a:srgbClr val="C8203A"/>
                </a:solidFill>
                <a:latin typeface="Poppins"/>
              </a:rPr>
              <a:t>04 /</a:t>
            </a:r>
          </a:p>
        </p:txBody>
      </p:sp>
      <p:sp>
        <p:nvSpPr>
          <p:cNvPr id="5" name="TextBox 4"/>
          <p:cNvSpPr txBox="1"/>
          <p:nvPr/>
        </p:nvSpPr>
        <p:spPr>
          <a:xfrm>
            <a:off x="594360" y="3566160"/>
            <a:ext cx="8229600" cy="1188720"/>
          </a:xfrm>
          <a:prstGeom prst="rect">
            <a:avLst/>
          </a:prstGeom>
          <a:noFill/>
        </p:spPr>
        <p:txBody>
          <a:bodyPr wrap="square">
            <a:spAutoFit/>
          </a:bodyPr>
          <a:lstStyle/>
          <a:p>
            <a:pPr algn="l"/>
            <a:r>
              <a:rPr sz="5200" b="1" i="0">
                <a:solidFill>
                  <a:srgbClr val="FFFFFF"/>
                </a:solidFill>
                <a:latin typeface="Poppins"/>
              </a:rPr>
              <a:t>The Strategic Case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57200"/>
            <a:ext cx="11002975" cy="640080"/>
          </a:xfrm>
          <a:prstGeom prst="rect">
            <a:avLst/>
          </a:prstGeom>
          <a:noFill/>
        </p:spPr>
        <p:txBody>
          <a:bodyPr wrap="none">
            <a:spAutoFit/>
          </a:bodyPr>
          <a:lstStyle/>
          <a:p>
            <a:pPr algn="l"/>
            <a:r>
              <a:rPr sz="2400" b="1" i="0">
                <a:solidFill>
                  <a:srgbClr val="212121"/>
                </a:solidFill>
                <a:latin typeface="Poppins"/>
              </a:rPr>
              <a:t>One Capability, Two Strategic Lenses</a:t>
            </a:r>
          </a:p>
        </p:txBody>
      </p:sp>
      <p:sp>
        <p:nvSpPr>
          <p:cNvPr id="3" name="Rectangle 2"/>
          <p:cNvSpPr/>
          <p:nvPr/>
        </p:nvSpPr>
        <p:spPr>
          <a:xfrm>
            <a:off x="594360" y="1188720"/>
            <a:ext cx="11002975" cy="45720"/>
          </a:xfrm>
          <a:prstGeom prst="rect">
            <a:avLst/>
          </a:prstGeom>
          <a:solidFill>
            <a:srgbClr val="C820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94360" y="1298448"/>
            <a:ext cx="5257800" cy="498348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94360" y="1298448"/>
            <a:ext cx="5257800" cy="54864"/>
          </a:xfrm>
          <a:prstGeom prst="rect">
            <a:avLst/>
          </a:prstGeom>
          <a:solidFill>
            <a:srgbClr val="C820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463040"/>
            <a:ext cx="4800600" cy="457200"/>
          </a:xfrm>
          <a:prstGeom prst="rect">
            <a:avLst/>
          </a:prstGeom>
          <a:noFill/>
        </p:spPr>
        <p:txBody>
          <a:bodyPr wrap="square">
            <a:spAutoFit/>
          </a:bodyPr>
          <a:lstStyle/>
          <a:p>
            <a:pPr algn="l"/>
            <a:r>
              <a:rPr sz="1400" b="1" i="0">
                <a:solidFill>
                  <a:srgbClr val="C8203A"/>
                </a:solidFill>
                <a:latin typeface="Poppins"/>
              </a:rPr>
              <a:t>The Marketing &amp; Conversion Case</a:t>
            </a:r>
          </a:p>
        </p:txBody>
      </p:sp>
      <p:sp>
        <p:nvSpPr>
          <p:cNvPr id="7" name="Rectangle 6"/>
          <p:cNvSpPr/>
          <p:nvPr/>
        </p:nvSpPr>
        <p:spPr>
          <a:xfrm>
            <a:off x="822960" y="1993392"/>
            <a:ext cx="4800600" cy="18288"/>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121408"/>
            <a:ext cx="4800600" cy="3977640"/>
          </a:xfrm>
          <a:prstGeom prst="rect">
            <a:avLst/>
          </a:prstGeom>
          <a:noFill/>
        </p:spPr>
        <p:txBody>
          <a:bodyPr wrap="square">
            <a:spAutoFit/>
          </a:bodyPr>
          <a:lstStyle/>
          <a:p>
            <a:pPr algn="l">
              <a:spcAft>
                <a:spcPts val="800"/>
              </a:spcAft>
            </a:pPr>
            <a:r>
              <a:rPr sz="1200" b="0" i="0">
                <a:solidFill>
                  <a:srgbClr val="212121"/>
                </a:solidFill>
                <a:latin typeface="Poppins"/>
              </a:rPr>
              <a:t>Murdoch's marketing investment drives traffic to a website that loses prospects before they convert. Every dollar spent on brand, search, and social is partially wasted at the point of information-seeking.</a:t>
            </a:r>
          </a:p>
          <a:p>
            <a:pPr algn="l">
              <a:spcAft>
                <a:spcPts val="800"/>
              </a:spcAft>
            </a:pPr>
            <a:r>
              <a:rPr sz="1200" b="0" i="0">
                <a:solidFill>
                  <a:srgbClr val="212121"/>
                </a:solidFill>
                <a:latin typeface="Poppins"/>
              </a:rPr>
              <a:t>The AI agent is a conversion layer — it captures intent at peak engagement and converts it into action.</a:t>
            </a:r>
          </a:p>
          <a:p>
            <a:pPr algn="l">
              <a:spcAft>
                <a:spcPts val="800"/>
              </a:spcAft>
            </a:pPr>
            <a:r>
              <a:rPr sz="1200" b="0" i="0">
                <a:solidFill>
                  <a:srgbClr val="212121"/>
                </a:solidFill>
                <a:latin typeface="Poppins"/>
              </a:rPr>
              <a:t>When a prospective student gets a clear, confident answer at 10pm on a Sunday while filling out a comparison spreadsheet, that matters. The competitor who answers first wins the consideration set.</a:t>
            </a:r>
          </a:p>
          <a:p>
            <a:pPr algn="l">
              <a:spcAft>
                <a:spcPts val="800"/>
              </a:spcAft>
            </a:pPr>
            <a:r>
              <a:rPr sz="1200" b="0" i="0">
                <a:solidFill>
                  <a:srgbClr val="212121"/>
                </a:solidFill>
                <a:latin typeface="Poppins"/>
              </a:rPr>
              <a:t>The agent also makes visible a feedback loop that doesn't currently exist: every question asked is a signal about what students don't understand, where the narrative breaks down, what content is missing.</a:t>
            </a:r>
          </a:p>
        </p:txBody>
      </p:sp>
      <p:sp>
        <p:nvSpPr>
          <p:cNvPr id="9" name="Rectangle 8"/>
          <p:cNvSpPr/>
          <p:nvPr/>
        </p:nvSpPr>
        <p:spPr>
          <a:xfrm>
            <a:off x="6263640" y="1298448"/>
            <a:ext cx="5257800" cy="498348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263640" y="1298448"/>
            <a:ext cx="5257800" cy="54864"/>
          </a:xfrm>
          <a:prstGeom prst="rect">
            <a:avLst/>
          </a:prstGeom>
          <a:solidFill>
            <a:srgbClr val="4D32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463040"/>
            <a:ext cx="4800600" cy="457200"/>
          </a:xfrm>
          <a:prstGeom prst="rect">
            <a:avLst/>
          </a:prstGeom>
          <a:noFill/>
        </p:spPr>
        <p:txBody>
          <a:bodyPr wrap="square">
            <a:spAutoFit/>
          </a:bodyPr>
          <a:lstStyle/>
          <a:p>
            <a:pPr algn="l"/>
            <a:r>
              <a:rPr sz="1400" b="1" i="0">
                <a:solidFill>
                  <a:srgbClr val="4D3299"/>
                </a:solidFill>
                <a:latin typeface="Poppins"/>
              </a:rPr>
              <a:t>The Architecture &amp; Platform Case</a:t>
            </a:r>
          </a:p>
        </p:txBody>
      </p:sp>
      <p:sp>
        <p:nvSpPr>
          <p:cNvPr id="12" name="Rectangle 11"/>
          <p:cNvSpPr/>
          <p:nvPr/>
        </p:nvSpPr>
        <p:spPr>
          <a:xfrm>
            <a:off x="6492240" y="1993392"/>
            <a:ext cx="4800600" cy="18288"/>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92240" y="2121408"/>
            <a:ext cx="4800600" cy="3977640"/>
          </a:xfrm>
          <a:prstGeom prst="rect">
            <a:avLst/>
          </a:prstGeom>
          <a:noFill/>
        </p:spPr>
        <p:txBody>
          <a:bodyPr wrap="square">
            <a:spAutoFit/>
          </a:bodyPr>
          <a:lstStyle/>
          <a:p>
            <a:pPr algn="l">
              <a:spcAft>
                <a:spcPts val="800"/>
              </a:spcAft>
            </a:pPr>
            <a:r>
              <a:rPr sz="1200" b="0" i="0">
                <a:solidFill>
                  <a:srgbClr val="212121"/>
                </a:solidFill>
                <a:latin typeface="Poppins"/>
              </a:rPr>
              <a:t>• Model-agnostic API layer — updated as capabilities improve without rebuilding</a:t>
            </a:r>
          </a:p>
          <a:p>
            <a:pPr algn="l">
              <a:spcAft>
                <a:spcPts val="800"/>
              </a:spcAft>
            </a:pPr>
            <a:r>
              <a:rPr sz="1200" b="0" i="0">
                <a:solidFill>
                  <a:srgbClr val="212121"/>
                </a:solidFill>
                <a:latin typeface="Poppins"/>
              </a:rPr>
              <a:t>• Knowledge layer separated from inference — content teams update without engineering</a:t>
            </a:r>
          </a:p>
          <a:p>
            <a:pPr algn="l">
              <a:spcAft>
                <a:spcPts val="800"/>
              </a:spcAft>
            </a:pPr>
            <a:r>
              <a:rPr sz="1200" b="0" i="0">
                <a:solidFill>
                  <a:srgbClr val="212121"/>
                </a:solidFill>
                <a:latin typeface="Poppins"/>
              </a:rPr>
              <a:t>• Integration-ready: CRM, application systems, advisor queues via standard APIs</a:t>
            </a:r>
          </a:p>
          <a:p>
            <a:pPr algn="l">
              <a:spcAft>
                <a:spcPts val="800"/>
              </a:spcAft>
            </a:pPr>
            <a:r>
              <a:rPr sz="1200" b="0" i="0">
                <a:solidFill>
                  <a:srgbClr val="212121"/>
                </a:solidFill>
                <a:latin typeface="Poppins"/>
              </a:rPr>
              <a:t>• Audit trail and conversation logging built in for compliance</a:t>
            </a:r>
          </a:p>
          <a:p>
            <a:pPr algn="l">
              <a:spcAft>
                <a:spcPts val="800"/>
              </a:spcAft>
            </a:pPr>
            <a:r>
              <a:rPr sz="1200" b="0" i="0">
                <a:solidFill>
                  <a:srgbClr val="212121"/>
                </a:solidFill>
                <a:latin typeface="Poppins"/>
              </a:rPr>
              <a:t>• Flexible deployment: embedded widget, standalone page, or mobile-first interface</a:t>
            </a:r>
          </a:p>
          <a:p>
            <a:pPr algn="l">
              <a:spcAft>
                <a:spcPts val="800"/>
              </a:spcAft>
            </a:pPr>
            <a:r>
              <a:rPr sz="1200" b="0" i="0">
                <a:solidFill>
                  <a:srgbClr val="212121"/>
                </a:solidFill>
                <a:latin typeface="Poppins"/>
              </a:rPr>
              <a:t>• Murdoch-owned architecture — no vendor lock-in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212121"/>
        </a:solidFill>
        <a:effectLst/>
      </p:bgPr>
    </p:bg>
    <p:spTree>
      <p:nvGrpSpPr>
        <p:cNvPr id="1" name=""/>
        <p:cNvGrpSpPr/>
        <p:nvPr/>
      </p:nvGrpSpPr>
      <p:grpSpPr/>
      <p:sp>
        <p:nvSpPr>
          <p:cNvPr id="2" name="TextBox 1"/>
          <p:cNvSpPr txBox="1"/>
          <p:nvPr/>
        </p:nvSpPr>
        <p:spPr>
          <a:xfrm>
            <a:off x="6705295" y="685800"/>
            <a:ext cx="5486400" cy="5486400"/>
          </a:xfrm>
          <a:prstGeom prst="rect">
            <a:avLst/>
          </a:prstGeom>
          <a:noFill/>
        </p:spPr>
        <p:txBody>
          <a:bodyPr wrap="square">
            <a:spAutoFit/>
          </a:bodyPr>
          <a:lstStyle/>
          <a:p>
            <a:pPr algn="r"/>
            <a:r>
              <a:rPr sz="20000" b="1" i="0">
                <a:solidFill>
                  <a:srgbClr val="2D2D2D"/>
                </a:solidFill>
                <a:latin typeface="Poppins"/>
              </a:rPr>
              <a:t>05</a:t>
            </a:r>
          </a:p>
        </p:txBody>
      </p:sp>
      <p:sp>
        <p:nvSpPr>
          <p:cNvPr id="3" name="Rectangle 2"/>
          <p:cNvSpPr/>
          <p:nvPr/>
        </p:nvSpPr>
        <p:spPr>
          <a:xfrm>
            <a:off x="594360" y="2926080"/>
            <a:ext cx="1463040" cy="54864"/>
          </a:xfrm>
          <a:prstGeom prst="rect">
            <a:avLst/>
          </a:prstGeom>
          <a:solidFill>
            <a:srgbClr val="C820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3108960"/>
            <a:ext cx="7315200" cy="411480"/>
          </a:xfrm>
          <a:prstGeom prst="rect">
            <a:avLst/>
          </a:prstGeom>
          <a:noFill/>
        </p:spPr>
        <p:txBody>
          <a:bodyPr wrap="square">
            <a:spAutoFit/>
          </a:bodyPr>
          <a:lstStyle/>
          <a:p>
            <a:pPr algn="l"/>
            <a:r>
              <a:rPr sz="1400" b="1" i="0">
                <a:solidFill>
                  <a:srgbClr val="C8203A"/>
                </a:solidFill>
                <a:latin typeface="Poppins"/>
              </a:rPr>
              <a:t>05 /</a:t>
            </a:r>
          </a:p>
        </p:txBody>
      </p:sp>
      <p:sp>
        <p:nvSpPr>
          <p:cNvPr id="5" name="TextBox 4"/>
          <p:cNvSpPr txBox="1"/>
          <p:nvPr/>
        </p:nvSpPr>
        <p:spPr>
          <a:xfrm>
            <a:off x="594360" y="3566160"/>
            <a:ext cx="8229600" cy="1188720"/>
          </a:xfrm>
          <a:prstGeom prst="rect">
            <a:avLst/>
          </a:prstGeom>
          <a:noFill/>
        </p:spPr>
        <p:txBody>
          <a:bodyPr wrap="square">
            <a:spAutoFit/>
          </a:bodyPr>
          <a:lstStyle/>
          <a:p>
            <a:pPr algn="l"/>
            <a:r>
              <a:rPr sz="5200" b="1" i="0">
                <a:solidFill>
                  <a:srgbClr val="FFFFFF"/>
                </a:solidFill>
                <a:latin typeface="Poppins"/>
              </a:rPr>
              <a:t>Why Now</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57200"/>
            <a:ext cx="11002975" cy="640080"/>
          </a:xfrm>
          <a:prstGeom prst="rect">
            <a:avLst/>
          </a:prstGeom>
          <a:noFill/>
        </p:spPr>
        <p:txBody>
          <a:bodyPr wrap="none">
            <a:spAutoFit/>
          </a:bodyPr>
          <a:lstStyle/>
          <a:p>
            <a:pPr algn="l"/>
            <a:r>
              <a:rPr sz="2400" b="1" i="0">
                <a:solidFill>
                  <a:srgbClr val="212121"/>
                </a:solidFill>
                <a:latin typeface="Poppins"/>
              </a:rPr>
              <a:t>The Window Is Open — Briefly</a:t>
            </a:r>
          </a:p>
        </p:txBody>
      </p:sp>
      <p:sp>
        <p:nvSpPr>
          <p:cNvPr id="3" name="Rectangle 2"/>
          <p:cNvSpPr/>
          <p:nvPr/>
        </p:nvSpPr>
        <p:spPr>
          <a:xfrm>
            <a:off x="594360" y="1188720"/>
            <a:ext cx="11002975" cy="45720"/>
          </a:xfrm>
          <a:prstGeom prst="rect">
            <a:avLst/>
          </a:prstGeom>
          <a:solidFill>
            <a:srgbClr val="C820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94360" y="1325880"/>
            <a:ext cx="5376672" cy="228600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94360" y="1325880"/>
            <a:ext cx="5376672" cy="54864"/>
          </a:xfrm>
          <a:prstGeom prst="rect">
            <a:avLst/>
          </a:prstGeom>
          <a:solidFill>
            <a:srgbClr val="009C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490472"/>
            <a:ext cx="4919472" cy="384048"/>
          </a:xfrm>
          <a:prstGeom prst="rect">
            <a:avLst/>
          </a:prstGeom>
          <a:noFill/>
        </p:spPr>
        <p:txBody>
          <a:bodyPr wrap="square">
            <a:spAutoFit/>
          </a:bodyPr>
          <a:lstStyle/>
          <a:p>
            <a:pPr algn="l"/>
            <a:r>
              <a:rPr sz="1300" b="1" i="0">
                <a:solidFill>
                  <a:srgbClr val="009C98"/>
                </a:solidFill>
                <a:latin typeface="Poppins"/>
              </a:rPr>
              <a:t>Students Already Expect It</a:t>
            </a:r>
          </a:p>
        </p:txBody>
      </p:sp>
      <p:sp>
        <p:nvSpPr>
          <p:cNvPr id="7" name="Rectangle 6"/>
          <p:cNvSpPr/>
          <p:nvPr/>
        </p:nvSpPr>
        <p:spPr>
          <a:xfrm>
            <a:off x="822960" y="1947672"/>
            <a:ext cx="4919472" cy="18288"/>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057400"/>
            <a:ext cx="4919472" cy="1389888"/>
          </a:xfrm>
          <a:prstGeom prst="rect">
            <a:avLst/>
          </a:prstGeom>
          <a:noFill/>
        </p:spPr>
        <p:txBody>
          <a:bodyPr wrap="square">
            <a:spAutoFit/>
          </a:bodyPr>
          <a:lstStyle/>
          <a:p>
            <a:pPr algn="l"/>
            <a:r>
              <a:rPr sz="1150" b="0" i="0">
                <a:solidFill>
                  <a:srgbClr val="212121"/>
                </a:solidFill>
                <a:latin typeface="Poppins"/>
              </a:rPr>
              <a:t>2 in 3 prospective students prefer AI-powered search over Google when researching universities (Everspring, 2025). High school seniors using AI for college search has grown six-fold in two years. This cohort is already asking AI about Murdoch — the question is whether Murdoch's answers are the ones returned.</a:t>
            </a:r>
          </a:p>
        </p:txBody>
      </p:sp>
      <p:sp>
        <p:nvSpPr>
          <p:cNvPr id="9" name="Rectangle 8"/>
          <p:cNvSpPr/>
          <p:nvPr/>
        </p:nvSpPr>
        <p:spPr>
          <a:xfrm>
            <a:off x="6135624" y="1325880"/>
            <a:ext cx="5376672" cy="228600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135624" y="1325880"/>
            <a:ext cx="5376672" cy="54864"/>
          </a:xfrm>
          <a:prstGeom prst="rect">
            <a:avLst/>
          </a:prstGeom>
          <a:solidFill>
            <a:srgbClr val="C820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64224" y="1490472"/>
            <a:ext cx="4919472" cy="384048"/>
          </a:xfrm>
          <a:prstGeom prst="rect">
            <a:avLst/>
          </a:prstGeom>
          <a:noFill/>
        </p:spPr>
        <p:txBody>
          <a:bodyPr wrap="square">
            <a:spAutoFit/>
          </a:bodyPr>
          <a:lstStyle/>
          <a:p>
            <a:pPr algn="l"/>
            <a:r>
              <a:rPr sz="1300" b="1" i="0">
                <a:solidFill>
                  <a:srgbClr val="C8203A"/>
                </a:solidFill>
                <a:latin typeface="Poppins"/>
              </a:rPr>
              <a:t>The Technology Is Production-Ready</a:t>
            </a:r>
          </a:p>
        </p:txBody>
      </p:sp>
      <p:sp>
        <p:nvSpPr>
          <p:cNvPr id="12" name="Rectangle 11"/>
          <p:cNvSpPr/>
          <p:nvPr/>
        </p:nvSpPr>
        <p:spPr>
          <a:xfrm>
            <a:off x="6364224" y="1947672"/>
            <a:ext cx="4919472" cy="18288"/>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64224" y="2057400"/>
            <a:ext cx="4919472" cy="1389888"/>
          </a:xfrm>
          <a:prstGeom prst="rect">
            <a:avLst/>
          </a:prstGeom>
          <a:noFill/>
        </p:spPr>
        <p:txBody>
          <a:bodyPr wrap="square">
            <a:spAutoFit/>
          </a:bodyPr>
          <a:lstStyle/>
          <a:p>
            <a:pPr algn="l"/>
            <a:r>
              <a:rPr sz="1150" b="0" i="0">
                <a:solidFill>
                  <a:srgbClr val="212121"/>
                </a:solidFill>
                <a:latin typeface="Poppins"/>
              </a:rPr>
              <a:t>Twelve months ago, deploying a reliable, hallucination-resistant, brand-safe AI agent at institutional scale was genuinely difficult. The models, infrastructure, and integration patterns have matured. The risk of early adoption has dropped substantially.</a:t>
            </a:r>
          </a:p>
        </p:txBody>
      </p:sp>
      <p:sp>
        <p:nvSpPr>
          <p:cNvPr id="14" name="Rectangle 13"/>
          <p:cNvSpPr/>
          <p:nvPr/>
        </p:nvSpPr>
        <p:spPr>
          <a:xfrm>
            <a:off x="594360" y="3776472"/>
            <a:ext cx="5376672" cy="228600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94360" y="3776472"/>
            <a:ext cx="5376672" cy="54864"/>
          </a:xfrm>
          <a:prstGeom prst="rect">
            <a:avLst/>
          </a:prstGeom>
          <a:solidFill>
            <a:srgbClr val="4D32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 y="3941064"/>
            <a:ext cx="4919472" cy="384048"/>
          </a:xfrm>
          <a:prstGeom prst="rect">
            <a:avLst/>
          </a:prstGeom>
          <a:noFill/>
        </p:spPr>
        <p:txBody>
          <a:bodyPr wrap="square">
            <a:spAutoFit/>
          </a:bodyPr>
          <a:lstStyle/>
          <a:p>
            <a:pPr algn="l"/>
            <a:r>
              <a:rPr sz="1300" b="1" i="0">
                <a:solidFill>
                  <a:srgbClr val="4D3299"/>
                </a:solidFill>
                <a:latin typeface="Poppins"/>
              </a:rPr>
              <a:t>Competitors Are Moving</a:t>
            </a:r>
          </a:p>
        </p:txBody>
      </p:sp>
      <p:sp>
        <p:nvSpPr>
          <p:cNvPr id="17" name="Rectangle 16"/>
          <p:cNvSpPr/>
          <p:nvPr/>
        </p:nvSpPr>
        <p:spPr>
          <a:xfrm>
            <a:off x="822960" y="4398264"/>
            <a:ext cx="4919472" cy="18288"/>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4507992"/>
            <a:ext cx="4919472" cy="1389888"/>
          </a:xfrm>
          <a:prstGeom prst="rect">
            <a:avLst/>
          </a:prstGeom>
          <a:noFill/>
        </p:spPr>
        <p:txBody>
          <a:bodyPr wrap="square">
            <a:spAutoFit/>
          </a:bodyPr>
          <a:lstStyle/>
          <a:p>
            <a:pPr algn="l"/>
            <a:r>
              <a:rPr sz="1150" b="0" i="0">
                <a:solidFill>
                  <a:srgbClr val="212121"/>
                </a:solidFill>
                <a:latin typeface="Poppins"/>
              </a:rPr>
              <a:t>Leading Australian universities are actively piloting AI student experience tools. The question is not whether this becomes standard — it will. The question is whether Murdoch leads that shift in Western Australia or responds to it.</a:t>
            </a:r>
          </a:p>
        </p:txBody>
      </p:sp>
      <p:sp>
        <p:nvSpPr>
          <p:cNvPr id="19" name="Rectangle 18"/>
          <p:cNvSpPr/>
          <p:nvPr/>
        </p:nvSpPr>
        <p:spPr>
          <a:xfrm>
            <a:off x="6135624" y="3776472"/>
            <a:ext cx="5376672" cy="228600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35624" y="3776472"/>
            <a:ext cx="5376672" cy="54864"/>
          </a:xfrm>
          <a:prstGeom prst="rect">
            <a:avLst/>
          </a:prstGeom>
          <a:solidFill>
            <a:srgbClr val="FF8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64224" y="3941064"/>
            <a:ext cx="4919472" cy="384048"/>
          </a:xfrm>
          <a:prstGeom prst="rect">
            <a:avLst/>
          </a:prstGeom>
          <a:noFill/>
        </p:spPr>
        <p:txBody>
          <a:bodyPr wrap="square">
            <a:spAutoFit/>
          </a:bodyPr>
          <a:lstStyle/>
          <a:p>
            <a:pPr algn="l"/>
            <a:r>
              <a:rPr sz="1300" b="1" i="0">
                <a:solidFill>
                  <a:srgbClr val="FF8400"/>
                </a:solidFill>
                <a:latin typeface="Poppins"/>
              </a:rPr>
              <a:t>The Research Is Already Done</a:t>
            </a:r>
          </a:p>
        </p:txBody>
      </p:sp>
      <p:sp>
        <p:nvSpPr>
          <p:cNvPr id="22" name="Rectangle 21"/>
          <p:cNvSpPr/>
          <p:nvPr/>
        </p:nvSpPr>
        <p:spPr>
          <a:xfrm>
            <a:off x="6364224" y="4398264"/>
            <a:ext cx="4919472" cy="18288"/>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64224" y="4507992"/>
            <a:ext cx="4919472" cy="1389888"/>
          </a:xfrm>
          <a:prstGeom prst="rect">
            <a:avLst/>
          </a:prstGeom>
          <a:noFill/>
        </p:spPr>
        <p:txBody>
          <a:bodyPr wrap="square">
            <a:spAutoFit/>
          </a:bodyPr>
          <a:lstStyle/>
          <a:p>
            <a:pPr algn="l"/>
            <a:r>
              <a:rPr sz="1150" b="0" i="0">
                <a:solidFill>
                  <a:srgbClr val="212121"/>
                </a:solidFill>
                <a:latin typeface="Poppins"/>
              </a:rPr>
              <a:t>Establishing the case normally requires a discovery phase just to prove the problem exists. That work is complete — UX audit, user interviews, journey mapping. The path from insight to implementation is unusually short.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212121"/>
        </a:solidFill>
        <a:effectLst/>
      </p:bgPr>
    </p:bg>
    <p:spTree>
      <p:nvGrpSpPr>
        <p:cNvPr id="1" name=""/>
        <p:cNvGrpSpPr/>
        <p:nvPr/>
      </p:nvGrpSpPr>
      <p:grpSpPr/>
      <p:sp>
        <p:nvSpPr>
          <p:cNvPr id="2" name="TextBox 1"/>
          <p:cNvSpPr txBox="1"/>
          <p:nvPr/>
        </p:nvSpPr>
        <p:spPr>
          <a:xfrm>
            <a:off x="6705295" y="685800"/>
            <a:ext cx="5486400" cy="5486400"/>
          </a:xfrm>
          <a:prstGeom prst="rect">
            <a:avLst/>
          </a:prstGeom>
          <a:noFill/>
        </p:spPr>
        <p:txBody>
          <a:bodyPr wrap="square">
            <a:spAutoFit/>
          </a:bodyPr>
          <a:lstStyle/>
          <a:p>
            <a:pPr algn="r"/>
            <a:r>
              <a:rPr sz="20000" b="1" i="0">
                <a:solidFill>
                  <a:srgbClr val="2D2D2D"/>
                </a:solidFill>
                <a:latin typeface="Poppins"/>
              </a:rPr>
              <a:t>06</a:t>
            </a:r>
          </a:p>
        </p:txBody>
      </p:sp>
      <p:sp>
        <p:nvSpPr>
          <p:cNvPr id="3" name="Rectangle 2"/>
          <p:cNvSpPr/>
          <p:nvPr/>
        </p:nvSpPr>
        <p:spPr>
          <a:xfrm>
            <a:off x="594360" y="2926080"/>
            <a:ext cx="1463040" cy="54864"/>
          </a:xfrm>
          <a:prstGeom prst="rect">
            <a:avLst/>
          </a:prstGeom>
          <a:solidFill>
            <a:srgbClr val="C820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3108960"/>
            <a:ext cx="7315200" cy="411480"/>
          </a:xfrm>
          <a:prstGeom prst="rect">
            <a:avLst/>
          </a:prstGeom>
          <a:noFill/>
        </p:spPr>
        <p:txBody>
          <a:bodyPr wrap="square">
            <a:spAutoFit/>
          </a:bodyPr>
          <a:lstStyle/>
          <a:p>
            <a:pPr algn="l"/>
            <a:r>
              <a:rPr sz="1400" b="1" i="0">
                <a:solidFill>
                  <a:srgbClr val="C8203A"/>
                </a:solidFill>
                <a:latin typeface="Poppins"/>
              </a:rPr>
              <a:t>06 /</a:t>
            </a:r>
          </a:p>
        </p:txBody>
      </p:sp>
      <p:sp>
        <p:nvSpPr>
          <p:cNvPr id="5" name="TextBox 4"/>
          <p:cNvSpPr txBox="1"/>
          <p:nvPr/>
        </p:nvSpPr>
        <p:spPr>
          <a:xfrm>
            <a:off x="594360" y="3566160"/>
            <a:ext cx="8229600" cy="1188720"/>
          </a:xfrm>
          <a:prstGeom prst="rect">
            <a:avLst/>
          </a:prstGeom>
          <a:noFill/>
        </p:spPr>
        <p:txBody>
          <a:bodyPr wrap="square">
            <a:spAutoFit/>
          </a:bodyPr>
          <a:lstStyle/>
          <a:p>
            <a:pPr algn="l"/>
            <a:r>
              <a:rPr sz="5200" b="1" i="0">
                <a:solidFill>
                  <a:srgbClr val="FFFFFF"/>
                </a:solidFill>
                <a:latin typeface="Poppins"/>
              </a:rPr>
              <a:t>The Roadmap</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57200"/>
            <a:ext cx="11002975" cy="640080"/>
          </a:xfrm>
          <a:prstGeom prst="rect">
            <a:avLst/>
          </a:prstGeom>
          <a:noFill/>
        </p:spPr>
        <p:txBody>
          <a:bodyPr wrap="none">
            <a:spAutoFit/>
          </a:bodyPr>
          <a:lstStyle/>
          <a:p>
            <a:pPr algn="l"/>
            <a:r>
              <a:rPr sz="2400" b="1" i="0">
                <a:solidFill>
                  <a:srgbClr val="212121"/>
                </a:solidFill>
                <a:latin typeface="Poppins"/>
              </a:rPr>
              <a:t>Phased Engagement Roadmap</a:t>
            </a:r>
          </a:p>
        </p:txBody>
      </p:sp>
      <p:sp>
        <p:nvSpPr>
          <p:cNvPr id="3" name="Rectangle 2"/>
          <p:cNvSpPr/>
          <p:nvPr/>
        </p:nvSpPr>
        <p:spPr>
          <a:xfrm>
            <a:off x="594360" y="1188720"/>
            <a:ext cx="11002975" cy="45720"/>
          </a:xfrm>
          <a:prstGeom prst="rect">
            <a:avLst/>
          </a:prstGeom>
          <a:solidFill>
            <a:srgbClr val="C820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993392" y="1325880"/>
            <a:ext cx="3146450" cy="502920"/>
          </a:xfrm>
          <a:prstGeom prst="rect">
            <a:avLst/>
          </a:prstGeom>
          <a:solidFill>
            <a:srgbClr val="C820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103120" y="1362456"/>
            <a:ext cx="2981858" cy="448056"/>
          </a:xfrm>
          <a:prstGeom prst="rect">
            <a:avLst/>
          </a:prstGeom>
          <a:noFill/>
        </p:spPr>
        <p:txBody>
          <a:bodyPr wrap="square">
            <a:spAutoFit/>
          </a:bodyPr>
          <a:lstStyle/>
          <a:p>
            <a:pPr algn="l">
              <a:spcAft>
                <a:spcPts val="200"/>
              </a:spcAft>
            </a:pPr>
            <a:r>
              <a:rPr sz="1200" b="1" i="0">
                <a:solidFill>
                  <a:srgbClr val="FFFFFF"/>
                </a:solidFill>
                <a:latin typeface="Poppins"/>
              </a:rPr>
              <a:t>Phase 1 — Prove</a:t>
            </a:r>
          </a:p>
          <a:p>
            <a:pPr algn="l"/>
            <a:r>
              <a:rPr sz="1000" b="0" i="0">
                <a:solidFill>
                  <a:srgbClr val="DDDDDD"/>
                </a:solidFill>
                <a:latin typeface="Poppins"/>
              </a:rPr>
              <a:t>Weeks 1–8</a:t>
            </a:r>
          </a:p>
        </p:txBody>
      </p:sp>
      <p:sp>
        <p:nvSpPr>
          <p:cNvPr id="6" name="Rectangle 5"/>
          <p:cNvSpPr/>
          <p:nvPr/>
        </p:nvSpPr>
        <p:spPr>
          <a:xfrm>
            <a:off x="5194706" y="1325880"/>
            <a:ext cx="3146450" cy="502920"/>
          </a:xfrm>
          <a:prstGeom prst="rect">
            <a:avLst/>
          </a:prstGeom>
          <a:solidFill>
            <a:srgbClr val="009C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304434" y="1362456"/>
            <a:ext cx="2981858" cy="448056"/>
          </a:xfrm>
          <a:prstGeom prst="rect">
            <a:avLst/>
          </a:prstGeom>
          <a:noFill/>
        </p:spPr>
        <p:txBody>
          <a:bodyPr wrap="square">
            <a:spAutoFit/>
          </a:bodyPr>
          <a:lstStyle/>
          <a:p>
            <a:pPr algn="l">
              <a:spcAft>
                <a:spcPts val="200"/>
              </a:spcAft>
            </a:pPr>
            <a:r>
              <a:rPr sz="1200" b="1" i="0">
                <a:solidFill>
                  <a:srgbClr val="FFFFFF"/>
                </a:solidFill>
                <a:latin typeface="Poppins"/>
              </a:rPr>
              <a:t>Phase 2 — Federate</a:t>
            </a:r>
          </a:p>
          <a:p>
            <a:pPr algn="l"/>
            <a:r>
              <a:rPr sz="1000" b="0" i="0">
                <a:solidFill>
                  <a:srgbClr val="DDDDDD"/>
                </a:solidFill>
                <a:latin typeface="Poppins"/>
              </a:rPr>
              <a:t>Weeks 9–20</a:t>
            </a:r>
          </a:p>
        </p:txBody>
      </p:sp>
      <p:sp>
        <p:nvSpPr>
          <p:cNvPr id="8" name="Rectangle 7"/>
          <p:cNvSpPr/>
          <p:nvPr/>
        </p:nvSpPr>
        <p:spPr>
          <a:xfrm>
            <a:off x="8396020" y="1325880"/>
            <a:ext cx="3146450" cy="502920"/>
          </a:xfrm>
          <a:prstGeom prst="rect">
            <a:avLst/>
          </a:prstGeom>
          <a:solidFill>
            <a:srgbClr val="4D32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05748" y="1362456"/>
            <a:ext cx="2981858" cy="448056"/>
          </a:xfrm>
          <a:prstGeom prst="rect">
            <a:avLst/>
          </a:prstGeom>
          <a:noFill/>
        </p:spPr>
        <p:txBody>
          <a:bodyPr wrap="square">
            <a:spAutoFit/>
          </a:bodyPr>
          <a:lstStyle/>
          <a:p>
            <a:pPr algn="l">
              <a:spcAft>
                <a:spcPts val="200"/>
              </a:spcAft>
            </a:pPr>
            <a:r>
              <a:rPr sz="1200" b="1" i="0">
                <a:solidFill>
                  <a:srgbClr val="FFFFFF"/>
                </a:solidFill>
                <a:latin typeface="Poppins"/>
              </a:rPr>
              <a:t>Phase 3 — Scale</a:t>
            </a:r>
          </a:p>
          <a:p>
            <a:pPr algn="l"/>
            <a:r>
              <a:rPr sz="1000" b="0" i="0">
                <a:solidFill>
                  <a:srgbClr val="DDDDDD"/>
                </a:solidFill>
                <a:latin typeface="Poppins"/>
              </a:rPr>
              <a:t>Ongoing</a:t>
            </a:r>
          </a:p>
        </p:txBody>
      </p:sp>
      <p:sp>
        <p:nvSpPr>
          <p:cNvPr id="10" name="Rectangle 9"/>
          <p:cNvSpPr/>
          <p:nvPr/>
        </p:nvSpPr>
        <p:spPr>
          <a:xfrm>
            <a:off x="594360" y="1865376"/>
            <a:ext cx="1252728" cy="78638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2093976"/>
            <a:ext cx="1143000" cy="365760"/>
          </a:xfrm>
          <a:prstGeom prst="rect">
            <a:avLst/>
          </a:prstGeom>
          <a:noFill/>
        </p:spPr>
        <p:txBody>
          <a:bodyPr wrap="square">
            <a:spAutoFit/>
          </a:bodyPr>
          <a:lstStyle/>
          <a:p>
            <a:pPr algn="l"/>
            <a:r>
              <a:rPr sz="1200" b="1" i="0">
                <a:solidFill>
                  <a:srgbClr val="009C98"/>
                </a:solidFill>
                <a:latin typeface="Poppins"/>
              </a:rPr>
              <a:t>Knowledge</a:t>
            </a:r>
          </a:p>
        </p:txBody>
      </p:sp>
      <p:sp>
        <p:nvSpPr>
          <p:cNvPr id="12" name="Rectangle 11"/>
          <p:cNvSpPr/>
          <p:nvPr/>
        </p:nvSpPr>
        <p:spPr>
          <a:xfrm>
            <a:off x="1993392" y="1865376"/>
            <a:ext cx="3146450" cy="786384"/>
          </a:xfrm>
          <a:prstGeom prst="rect">
            <a:avLst/>
          </a:prstGeom>
          <a:solidFill>
            <a:srgbClr val="F5C3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084832" y="1956816"/>
            <a:ext cx="3018434" cy="640080"/>
          </a:xfrm>
          <a:prstGeom prst="rect">
            <a:avLst/>
          </a:prstGeom>
          <a:noFill/>
        </p:spPr>
        <p:txBody>
          <a:bodyPr wrap="square">
            <a:spAutoFit/>
          </a:bodyPr>
          <a:lstStyle/>
          <a:p>
            <a:pPr algn="l"/>
            <a:r>
              <a:rPr sz="950" b="0" i="0">
                <a:solidFill>
                  <a:srgbClr val="212121"/>
                </a:solidFill>
                <a:latin typeface="Poppins"/>
              </a:rPr>
              <a:t>Build knowledge base
from Murdoch content</a:t>
            </a:r>
          </a:p>
        </p:txBody>
      </p:sp>
      <p:sp>
        <p:nvSpPr>
          <p:cNvPr id="14" name="Rectangle 13"/>
          <p:cNvSpPr/>
          <p:nvPr/>
        </p:nvSpPr>
        <p:spPr>
          <a:xfrm>
            <a:off x="5194706" y="1865376"/>
            <a:ext cx="3146450" cy="786384"/>
          </a:xfrm>
          <a:prstGeom prst="rect">
            <a:avLst/>
          </a:prstGeom>
          <a:solidFill>
            <a:srgbClr val="D4F4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86146" y="1956816"/>
            <a:ext cx="3018434" cy="640080"/>
          </a:xfrm>
          <a:prstGeom prst="rect">
            <a:avLst/>
          </a:prstGeom>
          <a:noFill/>
        </p:spPr>
        <p:txBody>
          <a:bodyPr wrap="square">
            <a:spAutoFit/>
          </a:bodyPr>
          <a:lstStyle/>
          <a:p>
            <a:pPr algn="l"/>
            <a:r>
              <a:rPr sz="950" b="0" i="0">
                <a:solidFill>
                  <a:srgbClr val="212121"/>
                </a:solidFill>
                <a:latin typeface="Poppins"/>
              </a:rPr>
              <a:t>Connect admissions,
scholarships &amp; RPL</a:t>
            </a:r>
          </a:p>
        </p:txBody>
      </p:sp>
      <p:sp>
        <p:nvSpPr>
          <p:cNvPr id="16" name="Rectangle 15"/>
          <p:cNvSpPr/>
          <p:nvPr/>
        </p:nvSpPr>
        <p:spPr>
          <a:xfrm>
            <a:off x="8396020" y="1865376"/>
            <a:ext cx="3146450" cy="786384"/>
          </a:xfrm>
          <a:prstGeom prst="rect">
            <a:avLst/>
          </a:prstGeom>
          <a:solidFill>
            <a:srgbClr val="DDD4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487460" y="1956816"/>
            <a:ext cx="3018434" cy="640080"/>
          </a:xfrm>
          <a:prstGeom prst="rect">
            <a:avLst/>
          </a:prstGeom>
          <a:noFill/>
        </p:spPr>
        <p:txBody>
          <a:bodyPr wrap="square">
            <a:spAutoFit/>
          </a:bodyPr>
          <a:lstStyle/>
          <a:p>
            <a:pPr algn="l"/>
            <a:r>
              <a:rPr sz="950" b="0" i="0">
                <a:solidFill>
                  <a:srgbClr val="212121"/>
                </a:solidFill>
                <a:latin typeface="Poppins"/>
              </a:rPr>
              <a:t>Live data feeds
&amp; continuous updates</a:t>
            </a:r>
          </a:p>
        </p:txBody>
      </p:sp>
      <p:sp>
        <p:nvSpPr>
          <p:cNvPr id="18" name="Rectangle 17"/>
          <p:cNvSpPr/>
          <p:nvPr/>
        </p:nvSpPr>
        <p:spPr>
          <a:xfrm>
            <a:off x="594360" y="2688336"/>
            <a:ext cx="1252728" cy="78638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2916936"/>
            <a:ext cx="1143000" cy="365760"/>
          </a:xfrm>
          <a:prstGeom prst="rect">
            <a:avLst/>
          </a:prstGeom>
          <a:noFill/>
        </p:spPr>
        <p:txBody>
          <a:bodyPr wrap="square">
            <a:spAutoFit/>
          </a:bodyPr>
          <a:lstStyle/>
          <a:p>
            <a:pPr algn="l"/>
            <a:r>
              <a:rPr sz="1200" b="1" i="0">
                <a:solidFill>
                  <a:srgbClr val="C8203A"/>
                </a:solidFill>
                <a:latin typeface="Poppins"/>
              </a:rPr>
              <a:t>Agent</a:t>
            </a:r>
          </a:p>
        </p:txBody>
      </p:sp>
      <p:sp>
        <p:nvSpPr>
          <p:cNvPr id="20" name="Rectangle 19"/>
          <p:cNvSpPr/>
          <p:nvPr/>
        </p:nvSpPr>
        <p:spPr>
          <a:xfrm>
            <a:off x="1993392" y="2688336"/>
            <a:ext cx="3146450" cy="786384"/>
          </a:xfrm>
          <a:prstGeom prst="rect">
            <a:avLst/>
          </a:prstGeom>
          <a:solidFill>
            <a:srgbClr val="F5C3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084832" y="2779776"/>
            <a:ext cx="3018434" cy="640080"/>
          </a:xfrm>
          <a:prstGeom prst="rect">
            <a:avLst/>
          </a:prstGeom>
          <a:noFill/>
        </p:spPr>
        <p:txBody>
          <a:bodyPr wrap="square">
            <a:spAutoFit/>
          </a:bodyPr>
          <a:lstStyle/>
          <a:p>
            <a:pPr algn="l"/>
            <a:r>
              <a:rPr sz="950" b="0" i="0">
                <a:solidFill>
                  <a:srgbClr val="212121"/>
                </a:solidFill>
                <a:latin typeface="Poppins"/>
              </a:rPr>
              <a:t>Deploy production
agent to staging</a:t>
            </a:r>
          </a:p>
        </p:txBody>
      </p:sp>
      <p:sp>
        <p:nvSpPr>
          <p:cNvPr id="22" name="Rectangle 21"/>
          <p:cNvSpPr/>
          <p:nvPr/>
        </p:nvSpPr>
        <p:spPr>
          <a:xfrm>
            <a:off x="5194706" y="2688336"/>
            <a:ext cx="3146450" cy="786384"/>
          </a:xfrm>
          <a:prstGeom prst="rect">
            <a:avLst/>
          </a:prstGeom>
          <a:solidFill>
            <a:srgbClr val="D4F4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286146" y="2779776"/>
            <a:ext cx="3018434" cy="640080"/>
          </a:xfrm>
          <a:prstGeom prst="rect">
            <a:avLst/>
          </a:prstGeom>
          <a:noFill/>
        </p:spPr>
        <p:txBody>
          <a:bodyPr wrap="square">
            <a:spAutoFit/>
          </a:bodyPr>
          <a:lstStyle/>
          <a:p>
            <a:pPr algn="l"/>
            <a:r>
              <a:rPr sz="950" b="0" i="0">
                <a:solidFill>
                  <a:srgbClr val="212121"/>
                </a:solidFill>
                <a:latin typeface="Poppins"/>
              </a:rPr>
              <a:t>Multi-cohort
conversation flows</a:t>
            </a:r>
          </a:p>
        </p:txBody>
      </p:sp>
      <p:sp>
        <p:nvSpPr>
          <p:cNvPr id="24" name="Rectangle 23"/>
          <p:cNvSpPr/>
          <p:nvPr/>
        </p:nvSpPr>
        <p:spPr>
          <a:xfrm>
            <a:off x="8396020" y="2688336"/>
            <a:ext cx="3146450" cy="786384"/>
          </a:xfrm>
          <a:prstGeom prst="rect">
            <a:avLst/>
          </a:prstGeom>
          <a:solidFill>
            <a:srgbClr val="DDD4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487460" y="2779776"/>
            <a:ext cx="3018434" cy="640080"/>
          </a:xfrm>
          <a:prstGeom prst="rect">
            <a:avLst/>
          </a:prstGeom>
          <a:noFill/>
        </p:spPr>
        <p:txBody>
          <a:bodyPr wrap="square">
            <a:spAutoFit/>
          </a:bodyPr>
          <a:lstStyle/>
          <a:p>
            <a:pPr algn="l"/>
            <a:r>
              <a:rPr sz="950" b="0" i="0">
                <a:solidFill>
                  <a:srgbClr val="212121"/>
                </a:solidFill>
                <a:latin typeface="Poppins"/>
              </a:rPr>
              <a:t>Full journey coverage
&amp; authenticated access</a:t>
            </a:r>
          </a:p>
        </p:txBody>
      </p:sp>
      <p:sp>
        <p:nvSpPr>
          <p:cNvPr id="26" name="Rectangle 25"/>
          <p:cNvSpPr/>
          <p:nvPr/>
        </p:nvSpPr>
        <p:spPr>
          <a:xfrm>
            <a:off x="594360" y="3511296"/>
            <a:ext cx="1252728" cy="78638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85800" y="3739896"/>
            <a:ext cx="1143000" cy="365760"/>
          </a:xfrm>
          <a:prstGeom prst="rect">
            <a:avLst/>
          </a:prstGeom>
          <a:noFill/>
        </p:spPr>
        <p:txBody>
          <a:bodyPr wrap="square">
            <a:spAutoFit/>
          </a:bodyPr>
          <a:lstStyle/>
          <a:p>
            <a:pPr algn="l"/>
            <a:r>
              <a:rPr sz="1200" b="1" i="0">
                <a:solidFill>
                  <a:srgbClr val="4D3299"/>
                </a:solidFill>
                <a:latin typeface="Poppins"/>
              </a:rPr>
              <a:t>Integration</a:t>
            </a:r>
          </a:p>
        </p:txBody>
      </p:sp>
      <p:sp>
        <p:nvSpPr>
          <p:cNvPr id="28" name="Rectangle 27"/>
          <p:cNvSpPr/>
          <p:nvPr/>
        </p:nvSpPr>
        <p:spPr>
          <a:xfrm>
            <a:off x="1993392" y="3511296"/>
            <a:ext cx="3146450" cy="786384"/>
          </a:xfrm>
          <a:prstGeom prst="rect">
            <a:avLst/>
          </a:prstGeom>
          <a:solidFill>
            <a:srgbClr val="F5C3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084832" y="3602736"/>
            <a:ext cx="3018434" cy="640080"/>
          </a:xfrm>
          <a:prstGeom prst="rect">
            <a:avLst/>
          </a:prstGeom>
          <a:noFill/>
        </p:spPr>
        <p:txBody>
          <a:bodyPr wrap="square">
            <a:spAutoFit/>
          </a:bodyPr>
          <a:lstStyle/>
          <a:p>
            <a:pPr algn="l"/>
            <a:r>
              <a:rPr sz="950" b="0" i="0">
                <a:solidFill>
                  <a:srgbClr val="212121"/>
                </a:solidFill>
                <a:latin typeface="Poppins"/>
              </a:rPr>
              <a:t>Advisor handoff
protocol</a:t>
            </a:r>
          </a:p>
        </p:txBody>
      </p:sp>
      <p:sp>
        <p:nvSpPr>
          <p:cNvPr id="30" name="Rectangle 29"/>
          <p:cNvSpPr/>
          <p:nvPr/>
        </p:nvSpPr>
        <p:spPr>
          <a:xfrm>
            <a:off x="5194706" y="3511296"/>
            <a:ext cx="3146450" cy="786384"/>
          </a:xfrm>
          <a:prstGeom prst="rect">
            <a:avLst/>
          </a:prstGeom>
          <a:solidFill>
            <a:srgbClr val="D4F4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286146" y="3602736"/>
            <a:ext cx="3018434" cy="640080"/>
          </a:xfrm>
          <a:prstGeom prst="rect">
            <a:avLst/>
          </a:prstGeom>
          <a:noFill/>
        </p:spPr>
        <p:txBody>
          <a:bodyPr wrap="square">
            <a:spAutoFit/>
          </a:bodyPr>
          <a:lstStyle/>
          <a:p>
            <a:pPr algn="l"/>
            <a:r>
              <a:rPr sz="950" b="0" i="0">
                <a:solidFill>
                  <a:srgbClr val="212121"/>
                </a:solidFill>
                <a:latin typeface="Poppins"/>
              </a:rPr>
              <a:t>CRM integration
&amp; lead capture</a:t>
            </a:r>
          </a:p>
        </p:txBody>
      </p:sp>
      <p:sp>
        <p:nvSpPr>
          <p:cNvPr id="32" name="Rectangle 31"/>
          <p:cNvSpPr/>
          <p:nvPr/>
        </p:nvSpPr>
        <p:spPr>
          <a:xfrm>
            <a:off x="8396020" y="3511296"/>
            <a:ext cx="3146450" cy="786384"/>
          </a:xfrm>
          <a:prstGeom prst="rect">
            <a:avLst/>
          </a:prstGeom>
          <a:solidFill>
            <a:srgbClr val="DDD4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487460" y="3602736"/>
            <a:ext cx="3018434" cy="640080"/>
          </a:xfrm>
          <a:prstGeom prst="rect">
            <a:avLst/>
          </a:prstGeom>
          <a:noFill/>
        </p:spPr>
        <p:txBody>
          <a:bodyPr wrap="square">
            <a:spAutoFit/>
          </a:bodyPr>
          <a:lstStyle/>
          <a:p>
            <a:pPr algn="l"/>
            <a:r>
              <a:rPr sz="950" b="0" i="0">
                <a:solidFill>
                  <a:srgbClr val="212121"/>
                </a:solidFill>
                <a:latin typeface="Poppins"/>
              </a:rPr>
              <a:t>Booking &amp; application
tracking integration</a:t>
            </a:r>
          </a:p>
        </p:txBody>
      </p:sp>
      <p:sp>
        <p:nvSpPr>
          <p:cNvPr id="34" name="Rectangle 33"/>
          <p:cNvSpPr/>
          <p:nvPr/>
        </p:nvSpPr>
        <p:spPr>
          <a:xfrm>
            <a:off x="594360" y="4334256"/>
            <a:ext cx="1252728" cy="78638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85800" y="4562856"/>
            <a:ext cx="1143000" cy="365760"/>
          </a:xfrm>
          <a:prstGeom prst="rect">
            <a:avLst/>
          </a:prstGeom>
          <a:noFill/>
        </p:spPr>
        <p:txBody>
          <a:bodyPr wrap="square">
            <a:spAutoFit/>
          </a:bodyPr>
          <a:lstStyle/>
          <a:p>
            <a:pPr algn="l"/>
            <a:r>
              <a:rPr sz="1200" b="1" i="0">
                <a:solidFill>
                  <a:srgbClr val="FF8400"/>
                </a:solidFill>
                <a:latin typeface="Poppins"/>
              </a:rPr>
              <a:t>Operations</a:t>
            </a:r>
          </a:p>
        </p:txBody>
      </p:sp>
      <p:sp>
        <p:nvSpPr>
          <p:cNvPr id="36" name="Rectangle 35"/>
          <p:cNvSpPr/>
          <p:nvPr/>
        </p:nvSpPr>
        <p:spPr>
          <a:xfrm>
            <a:off x="1993392" y="4334256"/>
            <a:ext cx="3146450" cy="786384"/>
          </a:xfrm>
          <a:prstGeom prst="rect">
            <a:avLst/>
          </a:prstGeom>
          <a:solidFill>
            <a:srgbClr val="F5C3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2084832" y="4425696"/>
            <a:ext cx="3018434" cy="640080"/>
          </a:xfrm>
          <a:prstGeom prst="rect">
            <a:avLst/>
          </a:prstGeom>
          <a:noFill/>
        </p:spPr>
        <p:txBody>
          <a:bodyPr wrap="square">
            <a:spAutoFit/>
          </a:bodyPr>
          <a:lstStyle/>
          <a:p>
            <a:pPr algn="l"/>
            <a:r>
              <a:rPr sz="950" b="0" i="0">
                <a:solidFill>
                  <a:srgbClr val="212121"/>
                </a:solidFill>
                <a:latin typeface="Poppins"/>
              </a:rPr>
              <a:t>Analytics dashboard
&amp; baseline</a:t>
            </a:r>
          </a:p>
        </p:txBody>
      </p:sp>
      <p:sp>
        <p:nvSpPr>
          <p:cNvPr id="38" name="Rectangle 37"/>
          <p:cNvSpPr/>
          <p:nvPr/>
        </p:nvSpPr>
        <p:spPr>
          <a:xfrm>
            <a:off x="5194706" y="4334256"/>
            <a:ext cx="3146450" cy="786384"/>
          </a:xfrm>
          <a:prstGeom prst="rect">
            <a:avLst/>
          </a:prstGeom>
          <a:solidFill>
            <a:srgbClr val="D4F4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286146" y="4425696"/>
            <a:ext cx="3018434" cy="640080"/>
          </a:xfrm>
          <a:prstGeom prst="rect">
            <a:avLst/>
          </a:prstGeom>
          <a:noFill/>
        </p:spPr>
        <p:txBody>
          <a:bodyPr wrap="square">
            <a:spAutoFit/>
          </a:bodyPr>
          <a:lstStyle/>
          <a:p>
            <a:pPr algn="l"/>
            <a:r>
              <a:rPr sz="950" b="0" i="0">
                <a:solidFill>
                  <a:srgbClr val="212121"/>
                </a:solidFill>
                <a:latin typeface="Poppins"/>
              </a:rPr>
              <a:t>Staff training
&amp; escalation flows</a:t>
            </a:r>
          </a:p>
        </p:txBody>
      </p:sp>
      <p:sp>
        <p:nvSpPr>
          <p:cNvPr id="40" name="Rectangle 39"/>
          <p:cNvSpPr/>
          <p:nvPr/>
        </p:nvSpPr>
        <p:spPr>
          <a:xfrm>
            <a:off x="8396020" y="4334256"/>
            <a:ext cx="3146450" cy="786384"/>
          </a:xfrm>
          <a:prstGeom prst="rect">
            <a:avLst/>
          </a:prstGeom>
          <a:solidFill>
            <a:srgbClr val="DDD4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487460" y="4425696"/>
            <a:ext cx="3018434" cy="640080"/>
          </a:xfrm>
          <a:prstGeom prst="rect">
            <a:avLst/>
          </a:prstGeom>
          <a:noFill/>
        </p:spPr>
        <p:txBody>
          <a:bodyPr wrap="square">
            <a:spAutoFit/>
          </a:bodyPr>
          <a:lstStyle/>
          <a:p>
            <a:pPr algn="l"/>
            <a:r>
              <a:rPr sz="950" b="0" i="0">
                <a:solidFill>
                  <a:srgbClr val="212121"/>
                </a:solidFill>
                <a:latin typeface="Poppins"/>
              </a:rPr>
              <a:t>Continuous improvement
&amp; A/B testing</a:t>
            </a:r>
          </a:p>
        </p:txBody>
      </p:sp>
      <p:sp>
        <p:nvSpPr>
          <p:cNvPr id="42" name="Rectangle 41"/>
          <p:cNvSpPr/>
          <p:nvPr/>
        </p:nvSpPr>
        <p:spPr>
          <a:xfrm>
            <a:off x="5158130" y="1828800"/>
            <a:ext cx="36576" cy="3291840"/>
          </a:xfrm>
          <a:prstGeom prst="rect">
            <a:avLst/>
          </a:prstGeom>
          <a:solidFill>
            <a:srgbClr val="2121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380890" y="5166360"/>
            <a:ext cx="1600200" cy="320040"/>
          </a:xfrm>
          <a:prstGeom prst="rect">
            <a:avLst/>
          </a:prstGeom>
          <a:noFill/>
        </p:spPr>
        <p:txBody>
          <a:bodyPr wrap="square">
            <a:spAutoFit/>
          </a:bodyPr>
          <a:lstStyle/>
          <a:p>
            <a:pPr algn="ctr"/>
            <a:r>
              <a:rPr sz="900" b="1" i="0">
                <a:solidFill>
                  <a:srgbClr val="212121"/>
                </a:solidFill>
                <a:latin typeface="Poppins"/>
              </a:rPr>
              <a:t>▲ Pilot Live</a:t>
            </a:r>
          </a:p>
        </p:txBody>
      </p:sp>
      <p:sp>
        <p:nvSpPr>
          <p:cNvPr id="44" name="Rectangle 43"/>
          <p:cNvSpPr/>
          <p:nvPr/>
        </p:nvSpPr>
        <p:spPr>
          <a:xfrm>
            <a:off x="8359444" y="1828800"/>
            <a:ext cx="36576" cy="3291840"/>
          </a:xfrm>
          <a:prstGeom prst="rect">
            <a:avLst/>
          </a:prstGeom>
          <a:solidFill>
            <a:srgbClr val="2121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582204" y="5166360"/>
            <a:ext cx="1600200" cy="320040"/>
          </a:xfrm>
          <a:prstGeom prst="rect">
            <a:avLst/>
          </a:prstGeom>
          <a:noFill/>
        </p:spPr>
        <p:txBody>
          <a:bodyPr wrap="square">
            <a:spAutoFit/>
          </a:bodyPr>
          <a:lstStyle/>
          <a:p>
            <a:pPr algn="ctr"/>
            <a:r>
              <a:rPr sz="900" b="1" i="0">
                <a:solidFill>
                  <a:srgbClr val="212121"/>
                </a:solidFill>
                <a:latin typeface="Poppins"/>
              </a:rPr>
              <a:t>▲ Full Cohort Coverage</a:t>
            </a:r>
          </a:p>
        </p:txBody>
      </p:sp>
      <p:sp>
        <p:nvSpPr>
          <p:cNvPr id="46" name="Rectangle 45"/>
          <p:cNvSpPr/>
          <p:nvPr/>
        </p:nvSpPr>
        <p:spPr>
          <a:xfrm>
            <a:off x="11560759" y="1828800"/>
            <a:ext cx="36576" cy="3291840"/>
          </a:xfrm>
          <a:prstGeom prst="rect">
            <a:avLst/>
          </a:prstGeom>
          <a:solidFill>
            <a:srgbClr val="2121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0783519" y="5166360"/>
            <a:ext cx="1600200" cy="320040"/>
          </a:xfrm>
          <a:prstGeom prst="rect">
            <a:avLst/>
          </a:prstGeom>
          <a:noFill/>
        </p:spPr>
        <p:txBody>
          <a:bodyPr wrap="square">
            <a:spAutoFit/>
          </a:bodyPr>
          <a:lstStyle/>
          <a:p>
            <a:pPr algn="ctr"/>
            <a:r>
              <a:rPr sz="900" b="1" i="0">
                <a:solidFill>
                  <a:srgbClr val="212121"/>
                </a:solidFill>
                <a:latin typeface="Poppins"/>
              </a:rPr>
              <a:t>▲ Continuous Optimisation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57200"/>
            <a:ext cx="11002975" cy="640080"/>
          </a:xfrm>
          <a:prstGeom prst="rect">
            <a:avLst/>
          </a:prstGeom>
          <a:noFill/>
        </p:spPr>
        <p:txBody>
          <a:bodyPr wrap="none">
            <a:spAutoFit/>
          </a:bodyPr>
          <a:lstStyle/>
          <a:p>
            <a:pPr algn="l"/>
            <a:r>
              <a:rPr sz="2400" b="1" i="0">
                <a:solidFill>
                  <a:srgbClr val="212121"/>
                </a:solidFill>
                <a:latin typeface="Poppins"/>
              </a:rPr>
              <a:t>From Pilot to Platform</a:t>
            </a:r>
          </a:p>
        </p:txBody>
      </p:sp>
      <p:sp>
        <p:nvSpPr>
          <p:cNvPr id="3" name="Rectangle 2"/>
          <p:cNvSpPr/>
          <p:nvPr/>
        </p:nvSpPr>
        <p:spPr>
          <a:xfrm>
            <a:off x="594360" y="1188720"/>
            <a:ext cx="11002975" cy="45720"/>
          </a:xfrm>
          <a:prstGeom prst="rect">
            <a:avLst/>
          </a:prstGeom>
          <a:solidFill>
            <a:srgbClr val="C820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94360" y="1298448"/>
            <a:ext cx="3547872" cy="498348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94360" y="1298448"/>
            <a:ext cx="3547872" cy="54864"/>
          </a:xfrm>
          <a:prstGeom prst="rect">
            <a:avLst/>
          </a:prstGeom>
          <a:solidFill>
            <a:srgbClr val="C820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435608"/>
            <a:ext cx="3182112" cy="320040"/>
          </a:xfrm>
          <a:prstGeom prst="rect">
            <a:avLst/>
          </a:prstGeom>
          <a:noFill/>
        </p:spPr>
        <p:txBody>
          <a:bodyPr wrap="square">
            <a:spAutoFit/>
          </a:bodyPr>
          <a:lstStyle/>
          <a:p>
            <a:pPr algn="l"/>
            <a:r>
              <a:rPr sz="1100" b="1" i="0">
                <a:solidFill>
                  <a:srgbClr val="C8203A"/>
                </a:solidFill>
                <a:latin typeface="Poppins"/>
              </a:rPr>
              <a:t>Phase 1</a:t>
            </a:r>
          </a:p>
        </p:txBody>
      </p:sp>
      <p:sp>
        <p:nvSpPr>
          <p:cNvPr id="7" name="TextBox 6"/>
          <p:cNvSpPr txBox="1"/>
          <p:nvPr/>
        </p:nvSpPr>
        <p:spPr>
          <a:xfrm>
            <a:off x="777240" y="1737360"/>
            <a:ext cx="3182112" cy="457200"/>
          </a:xfrm>
          <a:prstGeom prst="rect">
            <a:avLst/>
          </a:prstGeom>
          <a:noFill/>
        </p:spPr>
        <p:txBody>
          <a:bodyPr wrap="square">
            <a:spAutoFit/>
          </a:bodyPr>
          <a:lstStyle/>
          <a:p>
            <a:pPr algn="l"/>
            <a:r>
              <a:rPr sz="2400" b="1" i="0">
                <a:solidFill>
                  <a:srgbClr val="212121"/>
                </a:solidFill>
                <a:latin typeface="Poppins"/>
              </a:rPr>
              <a:t>Prove</a:t>
            </a:r>
          </a:p>
        </p:txBody>
      </p:sp>
      <p:sp>
        <p:nvSpPr>
          <p:cNvPr id="8" name="Rectangle 7"/>
          <p:cNvSpPr/>
          <p:nvPr/>
        </p:nvSpPr>
        <p:spPr>
          <a:xfrm>
            <a:off x="777240" y="2194560"/>
            <a:ext cx="1097280" cy="274320"/>
          </a:xfrm>
          <a:prstGeom prst="rect">
            <a:avLst/>
          </a:prstGeom>
          <a:solidFill>
            <a:srgbClr val="C820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194560"/>
            <a:ext cx="1097280" cy="274320"/>
          </a:xfrm>
          <a:prstGeom prst="rect">
            <a:avLst/>
          </a:prstGeom>
          <a:noFill/>
        </p:spPr>
        <p:txBody>
          <a:bodyPr wrap="square">
            <a:spAutoFit/>
          </a:bodyPr>
          <a:lstStyle/>
          <a:p>
            <a:pPr algn="ctr"/>
            <a:r>
              <a:rPr sz="1000" b="1" i="0">
                <a:solidFill>
                  <a:srgbClr val="FFFFFF"/>
                </a:solidFill>
                <a:latin typeface="Poppins"/>
              </a:rPr>
              <a:t>8 weeks</a:t>
            </a:r>
          </a:p>
        </p:txBody>
      </p:sp>
      <p:sp>
        <p:nvSpPr>
          <p:cNvPr id="10" name="Rectangle 9"/>
          <p:cNvSpPr/>
          <p:nvPr/>
        </p:nvSpPr>
        <p:spPr>
          <a:xfrm>
            <a:off x="777240" y="2560320"/>
            <a:ext cx="3182112" cy="18288"/>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2670048"/>
            <a:ext cx="3182112" cy="2423160"/>
          </a:xfrm>
          <a:prstGeom prst="rect">
            <a:avLst/>
          </a:prstGeom>
          <a:noFill/>
        </p:spPr>
        <p:txBody>
          <a:bodyPr wrap="square">
            <a:spAutoFit/>
          </a:bodyPr>
          <a:lstStyle/>
          <a:p>
            <a:pPr algn="l">
              <a:spcAft>
                <a:spcPts val="500"/>
              </a:spcAft>
            </a:pPr>
            <a:r>
              <a:rPr sz="1100" b="0" i="0">
                <a:solidFill>
                  <a:srgbClr val="616161"/>
                </a:solidFill>
                <a:latin typeface="Poppins"/>
              </a:rPr>
              <a:t>• Course discovery and entry requirements — highest-friction section</a:t>
            </a:r>
          </a:p>
          <a:p>
            <a:pPr algn="l">
              <a:spcAft>
                <a:spcPts val="500"/>
              </a:spcAft>
            </a:pPr>
            <a:r>
              <a:rPr sz="1100" b="0" i="0">
                <a:solidFill>
                  <a:srgbClr val="616161"/>
                </a:solidFill>
                <a:latin typeface="Poppins"/>
              </a:rPr>
              <a:t>• School leaver cohort focus</a:t>
            </a:r>
          </a:p>
          <a:p>
            <a:pPr algn="l">
              <a:spcAft>
                <a:spcPts val="500"/>
              </a:spcAft>
            </a:pPr>
            <a:r>
              <a:rPr sz="1100" b="0" i="0">
                <a:solidFill>
                  <a:srgbClr val="616161"/>
                </a:solidFill>
                <a:latin typeface="Poppins"/>
              </a:rPr>
              <a:t>• Website and course system as knowledge sources</a:t>
            </a:r>
          </a:p>
        </p:txBody>
      </p:sp>
      <p:sp>
        <p:nvSpPr>
          <p:cNvPr id="12" name="TextBox 11"/>
          <p:cNvSpPr txBox="1"/>
          <p:nvPr/>
        </p:nvSpPr>
        <p:spPr>
          <a:xfrm>
            <a:off x="777240" y="3950208"/>
            <a:ext cx="3182112" cy="292608"/>
          </a:xfrm>
          <a:prstGeom prst="rect">
            <a:avLst/>
          </a:prstGeom>
          <a:noFill/>
        </p:spPr>
        <p:txBody>
          <a:bodyPr wrap="square">
            <a:spAutoFit/>
          </a:bodyPr>
          <a:lstStyle/>
          <a:p>
            <a:pPr algn="l"/>
            <a:r>
              <a:rPr sz="1100" b="1" i="0">
                <a:solidFill>
                  <a:srgbClr val="C8203A"/>
                </a:solidFill>
                <a:latin typeface="Poppins"/>
              </a:rPr>
              <a:t>Deliverables</a:t>
            </a:r>
          </a:p>
        </p:txBody>
      </p:sp>
      <p:sp>
        <p:nvSpPr>
          <p:cNvPr id="13" name="TextBox 12"/>
          <p:cNvSpPr txBox="1"/>
          <p:nvPr/>
        </p:nvSpPr>
        <p:spPr>
          <a:xfrm>
            <a:off x="777240" y="4270248"/>
            <a:ext cx="3182112" cy="1856232"/>
          </a:xfrm>
          <a:prstGeom prst="rect">
            <a:avLst/>
          </a:prstGeom>
          <a:noFill/>
        </p:spPr>
        <p:txBody>
          <a:bodyPr wrap="square">
            <a:spAutoFit/>
          </a:bodyPr>
          <a:lstStyle/>
          <a:p>
            <a:pPr algn="l">
              <a:spcAft>
                <a:spcPts val="500"/>
              </a:spcAft>
            </a:pPr>
            <a:r>
              <a:rPr sz="1100" b="0" i="0">
                <a:solidFill>
                  <a:srgbClr val="212121"/>
                </a:solidFill>
                <a:latin typeface="Poppins"/>
              </a:rPr>
              <a:t>• Production agent deployed to staging</a:t>
            </a:r>
          </a:p>
          <a:p>
            <a:pPr algn="l">
              <a:spcAft>
                <a:spcPts val="500"/>
              </a:spcAft>
            </a:pPr>
            <a:r>
              <a:rPr sz="1100" b="0" i="0">
                <a:solidFill>
                  <a:srgbClr val="212121"/>
                </a:solidFill>
                <a:latin typeface="Poppins"/>
              </a:rPr>
              <a:t>• Knowledge base from existing Murdoch content</a:t>
            </a:r>
          </a:p>
          <a:p>
            <a:pPr algn="l">
              <a:spcAft>
                <a:spcPts val="500"/>
              </a:spcAft>
            </a:pPr>
            <a:r>
              <a:rPr sz="1100" b="0" i="0">
                <a:solidFill>
                  <a:srgbClr val="212121"/>
                </a:solidFill>
                <a:latin typeface="Poppins"/>
              </a:rPr>
              <a:t>• Analytics dashboard: volume, topics, escalations</a:t>
            </a:r>
          </a:p>
          <a:p>
            <a:pPr algn="l">
              <a:spcAft>
                <a:spcPts val="500"/>
              </a:spcAft>
            </a:pPr>
            <a:r>
              <a:rPr sz="1100" b="0" i="0">
                <a:solidFill>
                  <a:srgbClr val="212121"/>
                </a:solidFill>
                <a:latin typeface="Poppins"/>
              </a:rPr>
              <a:t>• Advisor handoff protocol for complex queries</a:t>
            </a:r>
          </a:p>
        </p:txBody>
      </p:sp>
      <p:sp>
        <p:nvSpPr>
          <p:cNvPr id="14" name="Rectangle 13"/>
          <p:cNvSpPr/>
          <p:nvPr/>
        </p:nvSpPr>
        <p:spPr>
          <a:xfrm>
            <a:off x="4306824" y="1298448"/>
            <a:ext cx="3547872" cy="498348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06824" y="1298448"/>
            <a:ext cx="3547872" cy="54864"/>
          </a:xfrm>
          <a:prstGeom prst="rect">
            <a:avLst/>
          </a:prstGeom>
          <a:solidFill>
            <a:srgbClr val="009C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89704" y="1435608"/>
            <a:ext cx="3182112" cy="320040"/>
          </a:xfrm>
          <a:prstGeom prst="rect">
            <a:avLst/>
          </a:prstGeom>
          <a:noFill/>
        </p:spPr>
        <p:txBody>
          <a:bodyPr wrap="square">
            <a:spAutoFit/>
          </a:bodyPr>
          <a:lstStyle/>
          <a:p>
            <a:pPr algn="l"/>
            <a:r>
              <a:rPr sz="1100" b="1" i="0">
                <a:solidFill>
                  <a:srgbClr val="009C98"/>
                </a:solidFill>
                <a:latin typeface="Poppins"/>
              </a:rPr>
              <a:t>Phase 2</a:t>
            </a:r>
          </a:p>
        </p:txBody>
      </p:sp>
      <p:sp>
        <p:nvSpPr>
          <p:cNvPr id="17" name="TextBox 16"/>
          <p:cNvSpPr txBox="1"/>
          <p:nvPr/>
        </p:nvSpPr>
        <p:spPr>
          <a:xfrm>
            <a:off x="4489704" y="1737360"/>
            <a:ext cx="3182112" cy="457200"/>
          </a:xfrm>
          <a:prstGeom prst="rect">
            <a:avLst/>
          </a:prstGeom>
          <a:noFill/>
        </p:spPr>
        <p:txBody>
          <a:bodyPr wrap="square">
            <a:spAutoFit/>
          </a:bodyPr>
          <a:lstStyle/>
          <a:p>
            <a:pPr algn="l"/>
            <a:r>
              <a:rPr sz="2400" b="1" i="0">
                <a:solidFill>
                  <a:srgbClr val="212121"/>
                </a:solidFill>
                <a:latin typeface="Poppins"/>
              </a:rPr>
              <a:t>Federate</a:t>
            </a:r>
          </a:p>
        </p:txBody>
      </p:sp>
      <p:sp>
        <p:nvSpPr>
          <p:cNvPr id="18" name="Rectangle 17"/>
          <p:cNvSpPr/>
          <p:nvPr/>
        </p:nvSpPr>
        <p:spPr>
          <a:xfrm>
            <a:off x="4489704" y="2194560"/>
            <a:ext cx="1097280" cy="274320"/>
          </a:xfrm>
          <a:prstGeom prst="rect">
            <a:avLst/>
          </a:prstGeom>
          <a:solidFill>
            <a:srgbClr val="009C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489704" y="2194560"/>
            <a:ext cx="1097280" cy="274320"/>
          </a:xfrm>
          <a:prstGeom prst="rect">
            <a:avLst/>
          </a:prstGeom>
          <a:noFill/>
        </p:spPr>
        <p:txBody>
          <a:bodyPr wrap="square">
            <a:spAutoFit/>
          </a:bodyPr>
          <a:lstStyle/>
          <a:p>
            <a:pPr algn="ctr"/>
            <a:r>
              <a:rPr sz="1000" b="1" i="0">
                <a:solidFill>
                  <a:srgbClr val="FFFFFF"/>
                </a:solidFill>
                <a:latin typeface="Poppins"/>
              </a:rPr>
              <a:t>10–12 weeks</a:t>
            </a:r>
          </a:p>
        </p:txBody>
      </p:sp>
      <p:sp>
        <p:nvSpPr>
          <p:cNvPr id="20" name="Rectangle 19"/>
          <p:cNvSpPr/>
          <p:nvPr/>
        </p:nvSpPr>
        <p:spPr>
          <a:xfrm>
            <a:off x="4489704" y="2560320"/>
            <a:ext cx="3182112" cy="18288"/>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489704" y="2670048"/>
            <a:ext cx="3182112" cy="2423160"/>
          </a:xfrm>
          <a:prstGeom prst="rect">
            <a:avLst/>
          </a:prstGeom>
          <a:noFill/>
        </p:spPr>
        <p:txBody>
          <a:bodyPr wrap="square">
            <a:spAutoFit/>
          </a:bodyPr>
          <a:lstStyle/>
          <a:p>
            <a:pPr algn="l">
              <a:spcAft>
                <a:spcPts val="500"/>
              </a:spcAft>
            </a:pPr>
            <a:r>
              <a:rPr sz="1100" b="0" i="0">
                <a:solidFill>
                  <a:srgbClr val="616161"/>
                </a:solidFill>
                <a:latin typeface="Poppins"/>
              </a:rPr>
              <a:t>• Connect admissions, scholarships, and RPL data sources</a:t>
            </a:r>
          </a:p>
          <a:p>
            <a:pPr algn="l">
              <a:spcAft>
                <a:spcPts val="500"/>
              </a:spcAft>
            </a:pPr>
            <a:r>
              <a:rPr sz="1100" b="0" i="0">
                <a:solidFill>
                  <a:srgbClr val="616161"/>
                </a:solidFill>
                <a:latin typeface="Poppins"/>
              </a:rPr>
              <a:t>• Expand to mature-age and international cohorts</a:t>
            </a:r>
          </a:p>
          <a:p>
            <a:pPr algn="l">
              <a:spcAft>
                <a:spcPts val="500"/>
              </a:spcAft>
            </a:pPr>
            <a:r>
              <a:rPr sz="1100" b="0" i="0">
                <a:solidFill>
                  <a:srgbClr val="616161"/>
                </a:solidFill>
                <a:latin typeface="Poppins"/>
              </a:rPr>
              <a:t>• CRM integration for lead capture and interaction history</a:t>
            </a:r>
          </a:p>
        </p:txBody>
      </p:sp>
      <p:sp>
        <p:nvSpPr>
          <p:cNvPr id="22" name="TextBox 21"/>
          <p:cNvSpPr txBox="1"/>
          <p:nvPr/>
        </p:nvSpPr>
        <p:spPr>
          <a:xfrm>
            <a:off x="4489704" y="3950208"/>
            <a:ext cx="3182112" cy="292608"/>
          </a:xfrm>
          <a:prstGeom prst="rect">
            <a:avLst/>
          </a:prstGeom>
          <a:noFill/>
        </p:spPr>
        <p:txBody>
          <a:bodyPr wrap="square">
            <a:spAutoFit/>
          </a:bodyPr>
          <a:lstStyle/>
          <a:p>
            <a:pPr algn="l"/>
            <a:r>
              <a:rPr sz="1100" b="1" i="0">
                <a:solidFill>
                  <a:srgbClr val="009C98"/>
                </a:solidFill>
                <a:latin typeface="Poppins"/>
              </a:rPr>
              <a:t>Deliverables</a:t>
            </a:r>
          </a:p>
        </p:txBody>
      </p:sp>
      <p:sp>
        <p:nvSpPr>
          <p:cNvPr id="23" name="TextBox 22"/>
          <p:cNvSpPr txBox="1"/>
          <p:nvPr/>
        </p:nvSpPr>
        <p:spPr>
          <a:xfrm>
            <a:off x="4489704" y="4270248"/>
            <a:ext cx="3182112" cy="1856232"/>
          </a:xfrm>
          <a:prstGeom prst="rect">
            <a:avLst/>
          </a:prstGeom>
          <a:noFill/>
        </p:spPr>
        <p:txBody>
          <a:bodyPr wrap="square">
            <a:spAutoFit/>
          </a:bodyPr>
          <a:lstStyle/>
          <a:p>
            <a:pPr algn="l">
              <a:spcAft>
                <a:spcPts val="500"/>
              </a:spcAft>
            </a:pPr>
            <a:r>
              <a:rPr sz="1100" b="0" i="0">
                <a:solidFill>
                  <a:srgbClr val="212121"/>
                </a:solidFill>
                <a:latin typeface="Poppins"/>
              </a:rPr>
              <a:t>• Federated knowledge platform (4 source systems)</a:t>
            </a:r>
          </a:p>
          <a:p>
            <a:pPr algn="l">
              <a:spcAft>
                <a:spcPts val="500"/>
              </a:spcAft>
            </a:pPr>
            <a:r>
              <a:rPr sz="1100" b="0" i="0">
                <a:solidFill>
                  <a:srgbClr val="212121"/>
                </a:solidFill>
                <a:latin typeface="Poppins"/>
              </a:rPr>
              <a:t>• CRM integration &amp; lead capture pipeline</a:t>
            </a:r>
          </a:p>
          <a:p>
            <a:pPr algn="l">
              <a:spcAft>
                <a:spcPts val="500"/>
              </a:spcAft>
            </a:pPr>
            <a:r>
              <a:rPr sz="1100" b="0" i="0">
                <a:solidFill>
                  <a:srgbClr val="212121"/>
                </a:solidFill>
                <a:latin typeface="Poppins"/>
              </a:rPr>
              <a:t>• Multi-cohort conversation coverage</a:t>
            </a:r>
          </a:p>
          <a:p>
            <a:pPr algn="l">
              <a:spcAft>
                <a:spcPts val="500"/>
              </a:spcAft>
            </a:pPr>
            <a:r>
              <a:rPr sz="1100" b="0" i="0">
                <a:solidFill>
                  <a:srgbClr val="212121"/>
                </a:solidFill>
                <a:latin typeface="Poppins"/>
              </a:rPr>
              <a:t>• Staff training &amp; escalation workflows</a:t>
            </a:r>
          </a:p>
        </p:txBody>
      </p:sp>
      <p:sp>
        <p:nvSpPr>
          <p:cNvPr id="24" name="Rectangle 23"/>
          <p:cNvSpPr/>
          <p:nvPr/>
        </p:nvSpPr>
        <p:spPr>
          <a:xfrm>
            <a:off x="8019288" y="1298448"/>
            <a:ext cx="3547872" cy="498348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019288" y="1298448"/>
            <a:ext cx="3547872" cy="54864"/>
          </a:xfrm>
          <a:prstGeom prst="rect">
            <a:avLst/>
          </a:prstGeom>
          <a:solidFill>
            <a:srgbClr val="4D32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02168" y="1435608"/>
            <a:ext cx="3182112" cy="320040"/>
          </a:xfrm>
          <a:prstGeom prst="rect">
            <a:avLst/>
          </a:prstGeom>
          <a:noFill/>
        </p:spPr>
        <p:txBody>
          <a:bodyPr wrap="square">
            <a:spAutoFit/>
          </a:bodyPr>
          <a:lstStyle/>
          <a:p>
            <a:pPr algn="l"/>
            <a:r>
              <a:rPr sz="1100" b="1" i="0">
                <a:solidFill>
                  <a:srgbClr val="4D3299"/>
                </a:solidFill>
                <a:latin typeface="Poppins"/>
              </a:rPr>
              <a:t>Phase 3</a:t>
            </a:r>
          </a:p>
        </p:txBody>
      </p:sp>
      <p:sp>
        <p:nvSpPr>
          <p:cNvPr id="27" name="TextBox 26"/>
          <p:cNvSpPr txBox="1"/>
          <p:nvPr/>
        </p:nvSpPr>
        <p:spPr>
          <a:xfrm>
            <a:off x="8202168" y="1737360"/>
            <a:ext cx="3182112" cy="457200"/>
          </a:xfrm>
          <a:prstGeom prst="rect">
            <a:avLst/>
          </a:prstGeom>
          <a:noFill/>
        </p:spPr>
        <p:txBody>
          <a:bodyPr wrap="square">
            <a:spAutoFit/>
          </a:bodyPr>
          <a:lstStyle/>
          <a:p>
            <a:pPr algn="l"/>
            <a:r>
              <a:rPr sz="2400" b="1" i="0">
                <a:solidFill>
                  <a:srgbClr val="212121"/>
                </a:solidFill>
                <a:latin typeface="Poppins"/>
              </a:rPr>
              <a:t>Scale</a:t>
            </a:r>
          </a:p>
        </p:txBody>
      </p:sp>
      <p:sp>
        <p:nvSpPr>
          <p:cNvPr id="28" name="Rectangle 27"/>
          <p:cNvSpPr/>
          <p:nvPr/>
        </p:nvSpPr>
        <p:spPr>
          <a:xfrm>
            <a:off x="8202168" y="2194560"/>
            <a:ext cx="1097280" cy="274320"/>
          </a:xfrm>
          <a:prstGeom prst="rect">
            <a:avLst/>
          </a:prstGeom>
          <a:solidFill>
            <a:srgbClr val="4D32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02168" y="2194560"/>
            <a:ext cx="1097280" cy="274320"/>
          </a:xfrm>
          <a:prstGeom prst="rect">
            <a:avLst/>
          </a:prstGeom>
          <a:noFill/>
        </p:spPr>
        <p:txBody>
          <a:bodyPr wrap="square">
            <a:spAutoFit/>
          </a:bodyPr>
          <a:lstStyle/>
          <a:p>
            <a:pPr algn="ctr"/>
            <a:r>
              <a:rPr sz="1000" b="1" i="0">
                <a:solidFill>
                  <a:srgbClr val="FFFFFF"/>
                </a:solidFill>
                <a:latin typeface="Poppins"/>
              </a:rPr>
              <a:t>Ongoing</a:t>
            </a:r>
          </a:p>
        </p:txBody>
      </p:sp>
      <p:sp>
        <p:nvSpPr>
          <p:cNvPr id="30" name="Rectangle 29"/>
          <p:cNvSpPr/>
          <p:nvPr/>
        </p:nvSpPr>
        <p:spPr>
          <a:xfrm>
            <a:off x="8202168" y="2560320"/>
            <a:ext cx="3182112" cy="18288"/>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202168" y="2670048"/>
            <a:ext cx="3182112" cy="2423160"/>
          </a:xfrm>
          <a:prstGeom prst="rect">
            <a:avLst/>
          </a:prstGeom>
          <a:noFill/>
        </p:spPr>
        <p:txBody>
          <a:bodyPr wrap="square">
            <a:spAutoFit/>
          </a:bodyPr>
          <a:lstStyle/>
          <a:p>
            <a:pPr algn="l">
              <a:spcAft>
                <a:spcPts val="500"/>
              </a:spcAft>
            </a:pPr>
            <a:r>
              <a:rPr sz="1100" b="0" i="0">
                <a:solidFill>
                  <a:srgbClr val="616161"/>
                </a:solidFill>
                <a:latin typeface="Poppins"/>
              </a:rPr>
              <a:t>• Full prospective journey coverage</a:t>
            </a:r>
          </a:p>
          <a:p>
            <a:pPr algn="l">
              <a:spcAft>
                <a:spcPts val="500"/>
              </a:spcAft>
            </a:pPr>
            <a:r>
              <a:rPr sz="1100" b="0" i="0">
                <a:solidFill>
                  <a:srgbClr val="616161"/>
                </a:solidFill>
                <a:latin typeface="Poppins"/>
              </a:rPr>
              <a:t>• Authenticated access for returning applicants</a:t>
            </a:r>
          </a:p>
          <a:p>
            <a:pPr algn="l">
              <a:spcAft>
                <a:spcPts val="500"/>
              </a:spcAft>
            </a:pPr>
            <a:r>
              <a:rPr sz="1100" b="0" i="0">
                <a:solidFill>
                  <a:srgbClr val="616161"/>
                </a:solidFill>
                <a:latin typeface="Poppins"/>
              </a:rPr>
              <a:t>• Booking integrations &amp; multi-language scoping</a:t>
            </a:r>
          </a:p>
        </p:txBody>
      </p:sp>
      <p:sp>
        <p:nvSpPr>
          <p:cNvPr id="32" name="TextBox 31"/>
          <p:cNvSpPr txBox="1"/>
          <p:nvPr/>
        </p:nvSpPr>
        <p:spPr>
          <a:xfrm>
            <a:off x="8202168" y="3950208"/>
            <a:ext cx="3182112" cy="292608"/>
          </a:xfrm>
          <a:prstGeom prst="rect">
            <a:avLst/>
          </a:prstGeom>
          <a:noFill/>
        </p:spPr>
        <p:txBody>
          <a:bodyPr wrap="square">
            <a:spAutoFit/>
          </a:bodyPr>
          <a:lstStyle/>
          <a:p>
            <a:pPr algn="l"/>
            <a:r>
              <a:rPr sz="1100" b="1" i="0">
                <a:solidFill>
                  <a:srgbClr val="4D3299"/>
                </a:solidFill>
                <a:latin typeface="Poppins"/>
              </a:rPr>
              <a:t>Deliverables</a:t>
            </a:r>
          </a:p>
        </p:txBody>
      </p:sp>
      <p:sp>
        <p:nvSpPr>
          <p:cNvPr id="33" name="TextBox 32"/>
          <p:cNvSpPr txBox="1"/>
          <p:nvPr/>
        </p:nvSpPr>
        <p:spPr>
          <a:xfrm>
            <a:off x="8202168" y="4270248"/>
            <a:ext cx="3182112" cy="1856232"/>
          </a:xfrm>
          <a:prstGeom prst="rect">
            <a:avLst/>
          </a:prstGeom>
          <a:noFill/>
        </p:spPr>
        <p:txBody>
          <a:bodyPr wrap="square">
            <a:spAutoFit/>
          </a:bodyPr>
          <a:lstStyle/>
          <a:p>
            <a:pPr algn="l">
              <a:spcAft>
                <a:spcPts val="500"/>
              </a:spcAft>
            </a:pPr>
            <a:r>
              <a:rPr sz="1100" b="0" i="0">
                <a:solidFill>
                  <a:srgbClr val="212121"/>
                </a:solidFill>
                <a:latin typeface="Poppins"/>
              </a:rPr>
              <a:t>• Full production platform</a:t>
            </a:r>
          </a:p>
          <a:p>
            <a:pPr algn="l">
              <a:spcAft>
                <a:spcPts val="500"/>
              </a:spcAft>
            </a:pPr>
            <a:r>
              <a:rPr sz="1100" b="0" i="0">
                <a:solidFill>
                  <a:srgbClr val="212121"/>
                </a:solidFill>
                <a:latin typeface="Poppins"/>
              </a:rPr>
              <a:t>• Application tracking integration</a:t>
            </a:r>
          </a:p>
          <a:p>
            <a:pPr algn="l">
              <a:spcAft>
                <a:spcPts val="500"/>
              </a:spcAft>
            </a:pPr>
            <a:r>
              <a:rPr sz="1100" b="0" i="0">
                <a:solidFill>
                  <a:srgbClr val="212121"/>
                </a:solidFill>
                <a:latin typeface="Poppins"/>
              </a:rPr>
              <a:t>• Campus booking integration</a:t>
            </a:r>
          </a:p>
          <a:p>
            <a:pPr algn="l">
              <a:spcAft>
                <a:spcPts val="500"/>
              </a:spcAft>
            </a:pPr>
            <a:r>
              <a:rPr sz="1100" b="0" i="0">
                <a:solidFill>
                  <a:srgbClr val="212121"/>
                </a:solidFill>
                <a:latin typeface="Poppins"/>
              </a:rPr>
              <a:t>• Optimisation loop from live conversation data</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57200"/>
            <a:ext cx="11002975" cy="640080"/>
          </a:xfrm>
          <a:prstGeom prst="rect">
            <a:avLst/>
          </a:prstGeom>
          <a:noFill/>
        </p:spPr>
        <p:txBody>
          <a:bodyPr wrap="none">
            <a:spAutoFit/>
          </a:bodyPr>
          <a:lstStyle/>
          <a:p>
            <a:pPr algn="l"/>
            <a:r>
              <a:rPr sz="2400" b="1" i="0">
                <a:solidFill>
                  <a:srgbClr val="212121"/>
                </a:solidFill>
                <a:latin typeface="Poppins"/>
              </a:rPr>
              <a:t>A Clear Commitment to a Defined Scope</a:t>
            </a:r>
          </a:p>
        </p:txBody>
      </p:sp>
      <p:sp>
        <p:nvSpPr>
          <p:cNvPr id="3" name="Rectangle 2"/>
          <p:cNvSpPr/>
          <p:nvPr/>
        </p:nvSpPr>
        <p:spPr>
          <a:xfrm>
            <a:off x="594360" y="1188720"/>
            <a:ext cx="11002975" cy="45720"/>
          </a:xfrm>
          <a:prstGeom prst="rect">
            <a:avLst/>
          </a:prstGeom>
          <a:solidFill>
            <a:srgbClr val="C820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94360" y="1298448"/>
            <a:ext cx="5257800" cy="498348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94360" y="1298448"/>
            <a:ext cx="5257800" cy="54864"/>
          </a:xfrm>
          <a:prstGeom prst="rect">
            <a:avLst/>
          </a:prstGeom>
          <a:solidFill>
            <a:srgbClr val="C820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463040"/>
            <a:ext cx="4800600" cy="457200"/>
          </a:xfrm>
          <a:prstGeom prst="rect">
            <a:avLst/>
          </a:prstGeom>
          <a:noFill/>
        </p:spPr>
        <p:txBody>
          <a:bodyPr wrap="square">
            <a:spAutoFit/>
          </a:bodyPr>
          <a:lstStyle/>
          <a:p>
            <a:pPr algn="l"/>
            <a:r>
              <a:rPr sz="1500" b="1" i="0">
                <a:solidFill>
                  <a:srgbClr val="C8203A"/>
                </a:solidFill>
                <a:latin typeface="Poppins"/>
              </a:rPr>
              <a:t>What We Bring</a:t>
            </a:r>
          </a:p>
        </p:txBody>
      </p:sp>
      <p:sp>
        <p:nvSpPr>
          <p:cNvPr id="7" name="Rectangle 6"/>
          <p:cNvSpPr/>
          <p:nvPr/>
        </p:nvSpPr>
        <p:spPr>
          <a:xfrm>
            <a:off x="822960" y="1993392"/>
            <a:ext cx="4800600" cy="18288"/>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121408"/>
            <a:ext cx="4800600" cy="3977640"/>
          </a:xfrm>
          <a:prstGeom prst="rect">
            <a:avLst/>
          </a:prstGeom>
          <a:noFill/>
        </p:spPr>
        <p:txBody>
          <a:bodyPr wrap="square">
            <a:spAutoFit/>
          </a:bodyPr>
          <a:lstStyle/>
          <a:p>
            <a:pPr algn="l">
              <a:spcAft>
                <a:spcPts val="1000"/>
              </a:spcAft>
            </a:pPr>
            <a:r>
              <a:rPr sz="1200" b="0" i="0">
                <a:solidFill>
                  <a:srgbClr val="212121"/>
                </a:solidFill>
                <a:latin typeface="Poppins"/>
              </a:rPr>
              <a:t>• AI product expertise and a track record of deployment at institutional scale</a:t>
            </a:r>
          </a:p>
          <a:p>
            <a:pPr algn="l">
              <a:spcAft>
                <a:spcPts val="1000"/>
              </a:spcAft>
            </a:pPr>
            <a:r>
              <a:rPr sz="1200" b="0" i="0">
                <a:solidFill>
                  <a:srgbClr val="212121"/>
                </a:solidFill>
                <a:latin typeface="Poppins"/>
              </a:rPr>
              <a:t>• Established integration patterns for university systems (admissions, CRM, LMS)</a:t>
            </a:r>
          </a:p>
          <a:p>
            <a:pPr algn="l">
              <a:spcAft>
                <a:spcPts val="1000"/>
              </a:spcAft>
            </a:pPr>
            <a:r>
              <a:rPr sz="1200" b="0" i="0">
                <a:solidFill>
                  <a:srgbClr val="212121"/>
                </a:solidFill>
                <a:latin typeface="Poppins"/>
              </a:rPr>
              <a:t>• A working prototype — not a proposal, a product ready to demonstrate</a:t>
            </a:r>
          </a:p>
          <a:p>
            <a:pPr algn="l">
              <a:spcAft>
                <a:spcPts val="1000"/>
              </a:spcAft>
            </a:pPr>
            <a:r>
              <a:rPr sz="1200" b="0" i="0">
                <a:solidFill>
                  <a:srgbClr val="212121"/>
                </a:solidFill>
                <a:latin typeface="Poppins"/>
              </a:rPr>
              <a:t>• Research evidence that makes this evidence-led from day one</a:t>
            </a:r>
          </a:p>
          <a:p>
            <a:pPr algn="l">
              <a:spcAft>
                <a:spcPts val="1000"/>
              </a:spcAft>
            </a:pPr>
            <a:r>
              <a:rPr sz="1200" b="0" i="0">
                <a:solidFill>
                  <a:srgbClr val="212121"/>
                </a:solidFill>
                <a:latin typeface="Poppins"/>
              </a:rPr>
              <a:t>• An architecture that Murdoch owns and controls</a:t>
            </a:r>
          </a:p>
        </p:txBody>
      </p:sp>
      <p:sp>
        <p:nvSpPr>
          <p:cNvPr id="9" name="Rectangle 8"/>
          <p:cNvSpPr/>
          <p:nvPr/>
        </p:nvSpPr>
        <p:spPr>
          <a:xfrm>
            <a:off x="6263640" y="1298448"/>
            <a:ext cx="5257800" cy="4983480"/>
          </a:xfrm>
          <a:prstGeom prst="rect">
            <a:avLst/>
          </a:prstGeom>
          <a:solidFill>
            <a:srgbClr val="2121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263640" y="1298448"/>
            <a:ext cx="5257800" cy="54864"/>
          </a:xfrm>
          <a:prstGeom prst="rect">
            <a:avLst/>
          </a:prstGeom>
          <a:solidFill>
            <a:srgbClr val="C820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463040"/>
            <a:ext cx="4800600" cy="457200"/>
          </a:xfrm>
          <a:prstGeom prst="rect">
            <a:avLst/>
          </a:prstGeom>
          <a:noFill/>
        </p:spPr>
        <p:txBody>
          <a:bodyPr wrap="square">
            <a:spAutoFit/>
          </a:bodyPr>
          <a:lstStyle/>
          <a:p>
            <a:pPr algn="l"/>
            <a:r>
              <a:rPr sz="1500" b="1" i="0">
                <a:solidFill>
                  <a:srgbClr val="C8203A"/>
                </a:solidFill>
                <a:latin typeface="Poppins"/>
              </a:rPr>
              <a:t>What We're Asking For</a:t>
            </a:r>
          </a:p>
        </p:txBody>
      </p:sp>
      <p:sp>
        <p:nvSpPr>
          <p:cNvPr id="12" name="Rectangle 11"/>
          <p:cNvSpPr/>
          <p:nvPr/>
        </p:nvSpPr>
        <p:spPr>
          <a:xfrm>
            <a:off x="6492240" y="1993392"/>
            <a:ext cx="4800600" cy="18288"/>
          </a:xfrm>
          <a:prstGeom prst="rect">
            <a:avLst/>
          </a:prstGeom>
          <a:solidFill>
            <a:srgbClr val="6161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92240" y="2121408"/>
            <a:ext cx="4800600" cy="3154680"/>
          </a:xfrm>
          <a:prstGeom prst="rect">
            <a:avLst/>
          </a:prstGeom>
          <a:noFill/>
        </p:spPr>
        <p:txBody>
          <a:bodyPr wrap="square">
            <a:spAutoFit/>
          </a:bodyPr>
          <a:lstStyle/>
          <a:p>
            <a:pPr algn="l">
              <a:spcAft>
                <a:spcPts val="1000"/>
              </a:spcAft>
            </a:pPr>
            <a:r>
              <a:rPr sz="1200" b="1" i="0">
                <a:solidFill>
                  <a:srgbClr val="FFFFFF"/>
                </a:solidFill>
                <a:latin typeface="Poppins"/>
              </a:rPr>
              <a:t>A commitment to Phase 1</a:t>
            </a:r>
          </a:p>
          <a:p>
            <a:pPr algn="l">
              <a:spcAft>
                <a:spcPts val="1000"/>
              </a:spcAft>
            </a:pPr>
            <a:r>
              <a:rPr sz="1200" b="0" i="0">
                <a:solidFill>
                  <a:srgbClr val="FFFFFF"/>
                </a:solidFill>
                <a:latin typeface="Poppins"/>
              </a:rPr>
              <a:t>• Eight weeks</a:t>
            </a:r>
          </a:p>
          <a:p>
            <a:pPr algn="l">
              <a:spcAft>
                <a:spcPts val="1000"/>
              </a:spcAft>
            </a:pPr>
            <a:r>
              <a:rPr sz="1200" b="0" i="0">
                <a:solidFill>
                  <a:srgbClr val="FFFFFF"/>
                </a:solidFill>
                <a:latin typeface="Poppins"/>
              </a:rPr>
              <a:t>• Defined scope: course discovery &amp; entry requirements, school leaver cohort</a:t>
            </a:r>
          </a:p>
          <a:p>
            <a:pPr algn="l">
              <a:spcAft>
                <a:spcPts val="1000"/>
              </a:spcAft>
            </a:pPr>
            <a:r>
              <a:rPr sz="1200" b="0" i="0">
                <a:solidFill>
                  <a:srgbClr val="FFFFFF"/>
                </a:solidFill>
                <a:latin typeface="Poppins"/>
              </a:rPr>
              <a:t>• Shared success criteria: engagement rates, conversion indicators, advisor deflection</a:t>
            </a:r>
          </a:p>
          <a:p>
            <a:pPr algn="l">
              <a:spcAft>
                <a:spcPts val="1000"/>
              </a:spcAft>
            </a:pPr>
            <a:r>
              <a:rPr sz="1200" b="0" i="0">
                <a:solidFill>
                  <a:srgbClr val="FFFFFF"/>
                </a:solidFill>
                <a:latin typeface="Poppins"/>
              </a:rPr>
              <a:t>• Access to course content and admissions data for knowledge base construction</a:t>
            </a:r>
          </a:p>
        </p:txBody>
      </p:sp>
      <p:sp>
        <p:nvSpPr>
          <p:cNvPr id="14" name="TextBox 13"/>
          <p:cNvSpPr txBox="1"/>
          <p:nvPr/>
        </p:nvSpPr>
        <p:spPr>
          <a:xfrm>
            <a:off x="6492240" y="5321808"/>
            <a:ext cx="4800600" cy="777240"/>
          </a:xfrm>
          <a:prstGeom prst="rect">
            <a:avLst/>
          </a:prstGeom>
          <a:noFill/>
        </p:spPr>
        <p:txBody>
          <a:bodyPr wrap="square">
            <a:spAutoFit/>
          </a:bodyPr>
          <a:lstStyle/>
          <a:p>
            <a:pPr algn="l"/>
            <a:r>
              <a:rPr sz="1100" b="0" i="1">
                <a:solidFill>
                  <a:srgbClr val="9E9E9E"/>
                </a:solidFill>
                <a:latin typeface="Poppins"/>
              </a:rPr>
              <a:t>Eight weeks to prove the concept works — with Murdoch's students, on Murdoch's website, with Murdoch's data.</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212121"/>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C820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66560"/>
            <a:ext cx="12191695" cy="91440"/>
          </a:xfrm>
          <a:prstGeom prst="rect">
            <a:avLst/>
          </a:prstGeom>
          <a:solidFill>
            <a:srgbClr val="C820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822960"/>
            <a:ext cx="1371600" cy="1645920"/>
          </a:xfrm>
          <a:prstGeom prst="rect">
            <a:avLst/>
          </a:prstGeom>
          <a:noFill/>
        </p:spPr>
        <p:txBody>
          <a:bodyPr wrap="square">
            <a:spAutoFit/>
          </a:bodyPr>
          <a:lstStyle/>
          <a:p>
            <a:pPr algn="l"/>
            <a:r>
              <a:rPr sz="11000" b="1" i="0">
                <a:solidFill>
                  <a:srgbClr val="C8203A"/>
                </a:solidFill>
                <a:latin typeface="Poppins"/>
              </a:rPr>
              <a:t>“</a:t>
            </a:r>
          </a:p>
        </p:txBody>
      </p:sp>
      <p:sp>
        <p:nvSpPr>
          <p:cNvPr id="5" name="TextBox 4"/>
          <p:cNvSpPr txBox="1"/>
          <p:nvPr/>
        </p:nvSpPr>
        <p:spPr>
          <a:xfrm>
            <a:off x="1600200" y="1417320"/>
            <a:ext cx="9875520" cy="2560320"/>
          </a:xfrm>
          <a:prstGeom prst="rect">
            <a:avLst/>
          </a:prstGeom>
          <a:noFill/>
        </p:spPr>
        <p:txBody>
          <a:bodyPr wrap="square">
            <a:spAutoFit/>
          </a:bodyPr>
          <a:lstStyle/>
          <a:p>
            <a:pPr algn="l"/>
            <a:r>
              <a:rPr sz="2600" b="0" i="0">
                <a:solidFill>
                  <a:srgbClr val="FFFFFF"/>
                </a:solidFill>
                <a:latin typeface="Poppins"/>
              </a:rPr>
              <a:t>Your students are arriving curious and leaving confused. We've built an AI agent that turns that friction into a conversation — and we're ready to prove it works.</a:t>
            </a:r>
          </a:p>
        </p:txBody>
      </p:sp>
      <p:sp>
        <p:nvSpPr>
          <p:cNvPr id="6" name="Rectangle 5"/>
          <p:cNvSpPr/>
          <p:nvPr/>
        </p:nvSpPr>
        <p:spPr>
          <a:xfrm>
            <a:off x="594360" y="4526280"/>
            <a:ext cx="2926080" cy="45720"/>
          </a:xfrm>
          <a:prstGeom prst="rect">
            <a:avLst/>
          </a:prstGeom>
          <a:solidFill>
            <a:srgbClr val="C820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4754880"/>
            <a:ext cx="11002975" cy="640080"/>
          </a:xfrm>
          <a:prstGeom prst="rect">
            <a:avLst/>
          </a:prstGeom>
          <a:noFill/>
        </p:spPr>
        <p:txBody>
          <a:bodyPr wrap="square">
            <a:spAutoFit/>
          </a:bodyPr>
          <a:lstStyle/>
          <a:p>
            <a:pPr algn="l"/>
            <a:r>
              <a:rPr sz="1900" b="1" i="0">
                <a:solidFill>
                  <a:srgbClr val="9E9E9E"/>
                </a:solidFill>
                <a:latin typeface="Poppins"/>
              </a:rPr>
              <a:t>The question isn't whether this becomes standard. It's whether Murdoch leads.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C820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1463040"/>
            <a:ext cx="11002975" cy="1097280"/>
          </a:xfrm>
          <a:prstGeom prst="rect">
            <a:avLst/>
          </a:prstGeom>
          <a:noFill/>
        </p:spPr>
        <p:txBody>
          <a:bodyPr wrap="square">
            <a:spAutoFit/>
          </a:bodyPr>
          <a:lstStyle/>
          <a:p>
            <a:pPr algn="ctr"/>
            <a:r>
              <a:rPr sz="5600" b="1" i="0">
                <a:solidFill>
                  <a:srgbClr val="212121"/>
                </a:solidFill>
                <a:latin typeface="Poppins"/>
              </a:rPr>
              <a:t>Let's Talk</a:t>
            </a:r>
          </a:p>
        </p:txBody>
      </p:sp>
      <p:sp>
        <p:nvSpPr>
          <p:cNvPr id="4" name="Rectangle 3"/>
          <p:cNvSpPr/>
          <p:nvPr/>
        </p:nvSpPr>
        <p:spPr>
          <a:xfrm>
            <a:off x="4572000" y="2743200"/>
            <a:ext cx="3017520" cy="45720"/>
          </a:xfrm>
          <a:prstGeom prst="rect">
            <a:avLst/>
          </a:prstGeom>
          <a:solidFill>
            <a:srgbClr val="C820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2926080"/>
            <a:ext cx="11002975" cy="640080"/>
          </a:xfrm>
          <a:prstGeom prst="rect">
            <a:avLst/>
          </a:prstGeom>
          <a:noFill/>
        </p:spPr>
        <p:txBody>
          <a:bodyPr wrap="square">
            <a:spAutoFit/>
          </a:bodyPr>
          <a:lstStyle/>
          <a:p>
            <a:pPr algn="ctr"/>
            <a:r>
              <a:rPr sz="1500" b="0" i="0">
                <a:solidFill>
                  <a:srgbClr val="616161"/>
                </a:solidFill>
                <a:latin typeface="Poppins"/>
              </a:rPr>
              <a:t>We're ready to walk through Phase 1 scoping, answer any technical questions, and agree on next steps today.</a:t>
            </a:r>
          </a:p>
        </p:txBody>
      </p:sp>
      <p:sp>
        <p:nvSpPr>
          <p:cNvPr id="6" name="TextBox 5"/>
          <p:cNvSpPr txBox="1"/>
          <p:nvPr/>
        </p:nvSpPr>
        <p:spPr>
          <a:xfrm>
            <a:off x="594360" y="3749039"/>
            <a:ext cx="11002975" cy="548640"/>
          </a:xfrm>
          <a:prstGeom prst="rect">
            <a:avLst/>
          </a:prstGeom>
          <a:noFill/>
        </p:spPr>
        <p:txBody>
          <a:bodyPr wrap="square">
            <a:spAutoFit/>
          </a:bodyPr>
          <a:lstStyle/>
          <a:p>
            <a:pPr algn="ctr"/>
            <a:r>
              <a:rPr sz="2200" b="1" i="0">
                <a:solidFill>
                  <a:srgbClr val="C8203A"/>
                </a:solidFill>
                <a:latin typeface="Poppins"/>
              </a:rPr>
              <a:t>What questions do you have?</a:t>
            </a:r>
          </a:p>
        </p:txBody>
      </p:sp>
      <p:sp>
        <p:nvSpPr>
          <p:cNvPr id="7" name="Rectangle 6"/>
          <p:cNvSpPr/>
          <p:nvPr/>
        </p:nvSpPr>
        <p:spPr>
          <a:xfrm>
            <a:off x="4297680" y="4572000"/>
            <a:ext cx="3566160" cy="1737360"/>
          </a:xfrm>
          <a:prstGeom prst="rect">
            <a:avLst/>
          </a:prstGeom>
          <a:solidFill>
            <a:srgbClr val="F5F5F5"/>
          </a:solidFill>
          <a:ln w="9525">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297680" y="5120640"/>
            <a:ext cx="3566160" cy="640080"/>
          </a:xfrm>
          <a:prstGeom prst="rect">
            <a:avLst/>
          </a:prstGeom>
          <a:noFill/>
        </p:spPr>
        <p:txBody>
          <a:bodyPr wrap="square">
            <a:spAutoFit/>
          </a:bodyPr>
          <a:lstStyle/>
          <a:p>
            <a:pPr algn="ctr"/>
            <a:r>
              <a:rPr sz="1000" b="0" i="1">
                <a:solidFill>
                  <a:srgbClr val="9E9E9E"/>
                </a:solidFill>
                <a:latin typeface="Poppins"/>
              </a:rPr>
              <a:t>[ Optional: closing AI agent screenshot ]</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57200"/>
            <a:ext cx="11002975" cy="640080"/>
          </a:xfrm>
          <a:prstGeom prst="rect">
            <a:avLst/>
          </a:prstGeom>
          <a:noFill/>
        </p:spPr>
        <p:txBody>
          <a:bodyPr wrap="none">
            <a:spAutoFit/>
          </a:bodyPr>
          <a:lstStyle/>
          <a:p>
            <a:pPr algn="l"/>
            <a:r>
              <a:rPr sz="2400" b="1" i="0">
                <a:solidFill>
                  <a:srgbClr val="212121"/>
                </a:solidFill>
                <a:latin typeface="Poppins"/>
              </a:rPr>
              <a:t>Research Evidence Summary</a:t>
            </a:r>
          </a:p>
        </p:txBody>
      </p:sp>
      <p:sp>
        <p:nvSpPr>
          <p:cNvPr id="3" name="Rectangle 2"/>
          <p:cNvSpPr/>
          <p:nvPr/>
        </p:nvSpPr>
        <p:spPr>
          <a:xfrm>
            <a:off x="594360" y="1188720"/>
            <a:ext cx="11002975" cy="45720"/>
          </a:xfrm>
          <a:prstGeom prst="rect">
            <a:avLst/>
          </a:prstGeom>
          <a:solidFill>
            <a:srgbClr val="C820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298448"/>
            <a:ext cx="11002975" cy="256032"/>
          </a:xfrm>
          <a:prstGeom prst="rect">
            <a:avLst/>
          </a:prstGeom>
          <a:noFill/>
        </p:spPr>
        <p:txBody>
          <a:bodyPr wrap="square">
            <a:spAutoFit/>
          </a:bodyPr>
          <a:lstStyle/>
          <a:p>
            <a:pPr algn="l"/>
            <a:r>
              <a:rPr sz="1000" b="1" i="0">
                <a:solidFill>
                  <a:srgbClr val="9E9E9E"/>
                </a:solidFill>
                <a:latin typeface="Poppins"/>
              </a:rPr>
              <a:t>APPENDIX A</a:t>
            </a:r>
          </a:p>
        </p:txBody>
      </p:sp>
      <p:sp>
        <p:nvSpPr>
          <p:cNvPr id="5" name="Rectangle 4"/>
          <p:cNvSpPr/>
          <p:nvPr/>
        </p:nvSpPr>
        <p:spPr>
          <a:xfrm>
            <a:off x="594360" y="1627632"/>
            <a:ext cx="2148840" cy="438912"/>
          </a:xfrm>
          <a:prstGeom prst="rect">
            <a:avLst/>
          </a:prstGeom>
          <a:solidFill>
            <a:srgbClr val="2121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743200" y="1627632"/>
            <a:ext cx="8854135" cy="438912"/>
          </a:xfrm>
          <a:prstGeom prst="rect">
            <a:avLst/>
          </a:prstGeom>
          <a:solidFill>
            <a:srgbClr val="2121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719072"/>
            <a:ext cx="1965960" cy="438912"/>
          </a:xfrm>
          <a:prstGeom prst="rect">
            <a:avLst/>
          </a:prstGeom>
          <a:noFill/>
        </p:spPr>
        <p:txBody>
          <a:bodyPr wrap="square">
            <a:spAutoFit/>
          </a:bodyPr>
          <a:lstStyle/>
          <a:p>
            <a:pPr algn="l"/>
            <a:r>
              <a:rPr sz="1100" b="1" i="0">
                <a:solidFill>
                  <a:srgbClr val="FFFFFF"/>
                </a:solidFill>
                <a:latin typeface="Poppins"/>
              </a:rPr>
              <a:t>Source</a:t>
            </a:r>
          </a:p>
        </p:txBody>
      </p:sp>
      <p:sp>
        <p:nvSpPr>
          <p:cNvPr id="8" name="TextBox 7"/>
          <p:cNvSpPr txBox="1"/>
          <p:nvPr/>
        </p:nvSpPr>
        <p:spPr>
          <a:xfrm>
            <a:off x="2834640" y="1719072"/>
            <a:ext cx="8671255" cy="438912"/>
          </a:xfrm>
          <a:prstGeom prst="rect">
            <a:avLst/>
          </a:prstGeom>
          <a:noFill/>
        </p:spPr>
        <p:txBody>
          <a:bodyPr wrap="square">
            <a:spAutoFit/>
          </a:bodyPr>
          <a:lstStyle/>
          <a:p>
            <a:pPr algn="l"/>
            <a:r>
              <a:rPr sz="1100" b="1" i="0">
                <a:solidFill>
                  <a:srgbClr val="FFFFFF"/>
                </a:solidFill>
                <a:latin typeface="Poppins"/>
              </a:rPr>
              <a:t>Key Finding</a:t>
            </a:r>
          </a:p>
        </p:txBody>
      </p:sp>
      <p:sp>
        <p:nvSpPr>
          <p:cNvPr id="9" name="Rectangle 8"/>
          <p:cNvSpPr/>
          <p:nvPr/>
        </p:nvSpPr>
        <p:spPr>
          <a:xfrm>
            <a:off x="594360" y="2066544"/>
            <a:ext cx="2148840" cy="438912"/>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743200" y="2066544"/>
            <a:ext cx="8854135" cy="438912"/>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94360" y="2066544"/>
            <a:ext cx="11002975" cy="9144"/>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2121408"/>
            <a:ext cx="1965960" cy="365760"/>
          </a:xfrm>
          <a:prstGeom prst="rect">
            <a:avLst/>
          </a:prstGeom>
          <a:noFill/>
        </p:spPr>
        <p:txBody>
          <a:bodyPr wrap="square">
            <a:spAutoFit/>
          </a:bodyPr>
          <a:lstStyle/>
          <a:p>
            <a:pPr algn="l"/>
            <a:r>
              <a:rPr sz="1000" b="1" i="0">
                <a:solidFill>
                  <a:srgbClr val="212121"/>
                </a:solidFill>
                <a:latin typeface="Poppins"/>
              </a:rPr>
              <a:t>UX Audit</a:t>
            </a:r>
          </a:p>
        </p:txBody>
      </p:sp>
      <p:sp>
        <p:nvSpPr>
          <p:cNvPr id="13" name="TextBox 12"/>
          <p:cNvSpPr txBox="1"/>
          <p:nvPr/>
        </p:nvSpPr>
        <p:spPr>
          <a:xfrm>
            <a:off x="2834640" y="2121408"/>
            <a:ext cx="8671255" cy="365760"/>
          </a:xfrm>
          <a:prstGeom prst="rect">
            <a:avLst/>
          </a:prstGeom>
          <a:noFill/>
        </p:spPr>
        <p:txBody>
          <a:bodyPr wrap="square">
            <a:spAutoFit/>
          </a:bodyPr>
          <a:lstStyle/>
          <a:p>
            <a:pPr algn="l"/>
            <a:r>
              <a:rPr sz="1000" b="0" i="0">
                <a:solidFill>
                  <a:srgbClr val="616161"/>
                </a:solidFill>
                <a:latin typeface="Poppins"/>
              </a:rPr>
              <a:t>Navigation maps to internal org structure, not student mental models. Core information consistently difficult to locate.</a:t>
            </a:r>
          </a:p>
        </p:txBody>
      </p:sp>
      <p:sp>
        <p:nvSpPr>
          <p:cNvPr id="14" name="Rectangle 13"/>
          <p:cNvSpPr/>
          <p:nvPr/>
        </p:nvSpPr>
        <p:spPr>
          <a:xfrm>
            <a:off x="594360" y="2505456"/>
            <a:ext cx="2148840" cy="4389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743200" y="2505456"/>
            <a:ext cx="8854135" cy="4389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94360" y="2505456"/>
            <a:ext cx="11002975" cy="9144"/>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5800" y="2560320"/>
            <a:ext cx="1965960" cy="365760"/>
          </a:xfrm>
          <a:prstGeom prst="rect">
            <a:avLst/>
          </a:prstGeom>
          <a:noFill/>
        </p:spPr>
        <p:txBody>
          <a:bodyPr wrap="square">
            <a:spAutoFit/>
          </a:bodyPr>
          <a:lstStyle/>
          <a:p>
            <a:pPr algn="l"/>
            <a:r>
              <a:rPr sz="1000" b="1" i="0">
                <a:solidFill>
                  <a:srgbClr val="212121"/>
                </a:solidFill>
                <a:latin typeface="Poppins"/>
              </a:rPr>
              <a:t>UX Audit</a:t>
            </a:r>
          </a:p>
        </p:txBody>
      </p:sp>
      <p:sp>
        <p:nvSpPr>
          <p:cNvPr id="18" name="TextBox 17"/>
          <p:cNvSpPr txBox="1"/>
          <p:nvPr/>
        </p:nvSpPr>
        <p:spPr>
          <a:xfrm>
            <a:off x="2834640" y="2560320"/>
            <a:ext cx="8671255" cy="365760"/>
          </a:xfrm>
          <a:prstGeom prst="rect">
            <a:avLst/>
          </a:prstGeom>
          <a:noFill/>
        </p:spPr>
        <p:txBody>
          <a:bodyPr wrap="square">
            <a:spAutoFit/>
          </a:bodyPr>
          <a:lstStyle/>
          <a:p>
            <a:pPr algn="l"/>
            <a:r>
              <a:rPr sz="1000" b="0" i="0">
                <a:solidFill>
                  <a:srgbClr val="616161"/>
                </a:solidFill>
                <a:latin typeface="Poppins"/>
              </a:rPr>
              <a:t>Study sub-site (Marketing) and Explore sub-site (Schools) operate as separate environments — inconsistent layouts, terminology, depth. Students hit a jarring drop in coherence when crossing between them.</a:t>
            </a:r>
          </a:p>
        </p:txBody>
      </p:sp>
      <p:sp>
        <p:nvSpPr>
          <p:cNvPr id="19" name="Rectangle 18"/>
          <p:cNvSpPr/>
          <p:nvPr/>
        </p:nvSpPr>
        <p:spPr>
          <a:xfrm>
            <a:off x="594360" y="2944368"/>
            <a:ext cx="2148840" cy="438912"/>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2743200" y="2944368"/>
            <a:ext cx="8854135" cy="438912"/>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94360" y="2944368"/>
            <a:ext cx="11002975" cy="9144"/>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999232"/>
            <a:ext cx="1965960" cy="365760"/>
          </a:xfrm>
          <a:prstGeom prst="rect">
            <a:avLst/>
          </a:prstGeom>
          <a:noFill/>
        </p:spPr>
        <p:txBody>
          <a:bodyPr wrap="square">
            <a:spAutoFit/>
          </a:bodyPr>
          <a:lstStyle/>
          <a:p>
            <a:pPr algn="l"/>
            <a:r>
              <a:rPr sz="1000" b="1" i="0">
                <a:solidFill>
                  <a:srgbClr val="212121"/>
                </a:solidFill>
                <a:latin typeface="Poppins"/>
              </a:rPr>
              <a:t>UX Audit</a:t>
            </a:r>
          </a:p>
        </p:txBody>
      </p:sp>
      <p:sp>
        <p:nvSpPr>
          <p:cNvPr id="23" name="TextBox 22"/>
          <p:cNvSpPr txBox="1"/>
          <p:nvPr/>
        </p:nvSpPr>
        <p:spPr>
          <a:xfrm>
            <a:off x="2834640" y="2999232"/>
            <a:ext cx="8671255" cy="365760"/>
          </a:xfrm>
          <a:prstGeom prst="rect">
            <a:avLst/>
          </a:prstGeom>
          <a:noFill/>
        </p:spPr>
        <p:txBody>
          <a:bodyPr wrap="square">
            <a:spAutoFit/>
          </a:bodyPr>
          <a:lstStyle/>
          <a:p>
            <a:pPr algn="l"/>
            <a:r>
              <a:rPr sz="1000" b="0" i="0">
                <a:solidFill>
                  <a:srgbClr val="616161"/>
                </a:solidFill>
                <a:latin typeface="Poppins"/>
              </a:rPr>
              <a:t>Mobile experience falls significantly below expectation for a primarily mobile-first cohort.</a:t>
            </a:r>
          </a:p>
        </p:txBody>
      </p:sp>
      <p:sp>
        <p:nvSpPr>
          <p:cNvPr id="24" name="Rectangle 23"/>
          <p:cNvSpPr/>
          <p:nvPr/>
        </p:nvSpPr>
        <p:spPr>
          <a:xfrm>
            <a:off x="594360" y="3383280"/>
            <a:ext cx="2148840" cy="4389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2743200" y="3383280"/>
            <a:ext cx="8854135" cy="4389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94360" y="3383280"/>
            <a:ext cx="11002975" cy="9144"/>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85800" y="3438144"/>
            <a:ext cx="1965960" cy="365760"/>
          </a:xfrm>
          <a:prstGeom prst="rect">
            <a:avLst/>
          </a:prstGeom>
          <a:noFill/>
        </p:spPr>
        <p:txBody>
          <a:bodyPr wrap="square">
            <a:spAutoFit/>
          </a:bodyPr>
          <a:lstStyle/>
          <a:p>
            <a:pPr algn="l"/>
            <a:r>
              <a:rPr sz="1000" b="1" i="0">
                <a:solidFill>
                  <a:srgbClr val="212121"/>
                </a:solidFill>
                <a:latin typeface="Poppins"/>
              </a:rPr>
              <a:t>School Leaver Research</a:t>
            </a:r>
          </a:p>
        </p:txBody>
      </p:sp>
      <p:sp>
        <p:nvSpPr>
          <p:cNvPr id="28" name="TextBox 27"/>
          <p:cNvSpPr txBox="1"/>
          <p:nvPr/>
        </p:nvSpPr>
        <p:spPr>
          <a:xfrm>
            <a:off x="2834640" y="3438144"/>
            <a:ext cx="8671255" cy="365760"/>
          </a:xfrm>
          <a:prstGeom prst="rect">
            <a:avLst/>
          </a:prstGeom>
          <a:noFill/>
        </p:spPr>
        <p:txBody>
          <a:bodyPr wrap="square">
            <a:spAutoFit/>
          </a:bodyPr>
          <a:lstStyle/>
          <a:p>
            <a:pPr algn="l"/>
            <a:r>
              <a:rPr sz="1000" b="0" i="0">
                <a:solidFill>
                  <a:srgbClr val="616161"/>
                </a:solidFill>
                <a:latin typeface="Poppins"/>
              </a:rPr>
              <a:t>Students compare 3–5 institutions simultaneously. Whoever answers their question first, clearly, wins.</a:t>
            </a:r>
          </a:p>
        </p:txBody>
      </p:sp>
      <p:sp>
        <p:nvSpPr>
          <p:cNvPr id="29" name="Rectangle 28"/>
          <p:cNvSpPr/>
          <p:nvPr/>
        </p:nvSpPr>
        <p:spPr>
          <a:xfrm>
            <a:off x="594360" y="3822192"/>
            <a:ext cx="2148840" cy="438912"/>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743200" y="3822192"/>
            <a:ext cx="8854135" cy="438912"/>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94360" y="3822192"/>
            <a:ext cx="11002975" cy="9144"/>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85800" y="3877056"/>
            <a:ext cx="1965960" cy="365760"/>
          </a:xfrm>
          <a:prstGeom prst="rect">
            <a:avLst/>
          </a:prstGeom>
          <a:noFill/>
        </p:spPr>
        <p:txBody>
          <a:bodyPr wrap="square">
            <a:spAutoFit/>
          </a:bodyPr>
          <a:lstStyle/>
          <a:p>
            <a:pPr algn="l"/>
            <a:r>
              <a:rPr sz="1000" b="1" i="0">
                <a:solidFill>
                  <a:srgbClr val="212121"/>
                </a:solidFill>
                <a:latin typeface="Poppins"/>
              </a:rPr>
              <a:t>School Leaver Research</a:t>
            </a:r>
          </a:p>
        </p:txBody>
      </p:sp>
      <p:sp>
        <p:nvSpPr>
          <p:cNvPr id="33" name="TextBox 32"/>
          <p:cNvSpPr txBox="1"/>
          <p:nvPr/>
        </p:nvSpPr>
        <p:spPr>
          <a:xfrm>
            <a:off x="2834640" y="3877056"/>
            <a:ext cx="8671255" cy="365760"/>
          </a:xfrm>
          <a:prstGeom prst="rect">
            <a:avLst/>
          </a:prstGeom>
          <a:noFill/>
        </p:spPr>
        <p:txBody>
          <a:bodyPr wrap="square">
            <a:spAutoFit/>
          </a:bodyPr>
          <a:lstStyle/>
          <a:p>
            <a:pPr algn="l"/>
            <a:r>
              <a:rPr sz="1000" b="0" i="0">
                <a:solidFill>
                  <a:srgbClr val="616161"/>
                </a:solidFill>
                <a:latin typeface="Poppins"/>
              </a:rPr>
              <a:t>Interviewees expressed clear preference for immediate, conversational answers. One participant named AI as their preferred channel over live chat and email — consistent with broader industry research.</a:t>
            </a:r>
          </a:p>
        </p:txBody>
      </p:sp>
      <p:sp>
        <p:nvSpPr>
          <p:cNvPr id="34" name="Rectangle 33"/>
          <p:cNvSpPr/>
          <p:nvPr/>
        </p:nvSpPr>
        <p:spPr>
          <a:xfrm>
            <a:off x="594360" y="4261104"/>
            <a:ext cx="2148840" cy="4389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2743200" y="4261104"/>
            <a:ext cx="8854135" cy="4389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594360" y="4261104"/>
            <a:ext cx="11002975" cy="9144"/>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85800" y="4315968"/>
            <a:ext cx="1965960" cy="365760"/>
          </a:xfrm>
          <a:prstGeom prst="rect">
            <a:avLst/>
          </a:prstGeom>
          <a:noFill/>
        </p:spPr>
        <p:txBody>
          <a:bodyPr wrap="square">
            <a:spAutoFit/>
          </a:bodyPr>
          <a:lstStyle/>
          <a:p>
            <a:pPr algn="l"/>
            <a:r>
              <a:rPr sz="1000" b="1" i="0">
                <a:solidFill>
                  <a:srgbClr val="212121"/>
                </a:solidFill>
                <a:latin typeface="Poppins"/>
              </a:rPr>
              <a:t>Everspring (2025)</a:t>
            </a:r>
          </a:p>
        </p:txBody>
      </p:sp>
      <p:sp>
        <p:nvSpPr>
          <p:cNvPr id="38" name="TextBox 37"/>
          <p:cNvSpPr txBox="1"/>
          <p:nvPr/>
        </p:nvSpPr>
        <p:spPr>
          <a:xfrm>
            <a:off x="2834640" y="4315968"/>
            <a:ext cx="8671255" cy="365760"/>
          </a:xfrm>
          <a:prstGeom prst="rect">
            <a:avLst/>
          </a:prstGeom>
          <a:noFill/>
        </p:spPr>
        <p:txBody>
          <a:bodyPr wrap="square">
            <a:spAutoFit/>
          </a:bodyPr>
          <a:lstStyle/>
          <a:p>
            <a:pPr algn="l"/>
            <a:r>
              <a:rPr sz="1000" b="0" i="0">
                <a:solidFill>
                  <a:srgbClr val="616161"/>
                </a:solidFill>
                <a:latin typeface="Poppins"/>
              </a:rPr>
              <a:t>2 in 3 prospective students prefer AI-powered search over Google. Education is 2nd highest category for AI-referred traffic. (450,000+ search sessions)</a:t>
            </a:r>
          </a:p>
        </p:txBody>
      </p:sp>
      <p:sp>
        <p:nvSpPr>
          <p:cNvPr id="39" name="Rectangle 38"/>
          <p:cNvSpPr/>
          <p:nvPr/>
        </p:nvSpPr>
        <p:spPr>
          <a:xfrm>
            <a:off x="594360" y="4700016"/>
            <a:ext cx="2148840" cy="438912"/>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2743200" y="4700016"/>
            <a:ext cx="8854135" cy="438912"/>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594360" y="4700016"/>
            <a:ext cx="11002975" cy="9144"/>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85800" y="4754880"/>
            <a:ext cx="1965960" cy="365760"/>
          </a:xfrm>
          <a:prstGeom prst="rect">
            <a:avLst/>
          </a:prstGeom>
          <a:noFill/>
        </p:spPr>
        <p:txBody>
          <a:bodyPr wrap="square">
            <a:spAutoFit/>
          </a:bodyPr>
          <a:lstStyle/>
          <a:p>
            <a:pPr algn="l"/>
            <a:r>
              <a:rPr sz="1000" b="1" i="0">
                <a:solidFill>
                  <a:srgbClr val="212121"/>
                </a:solidFill>
                <a:latin typeface="Poppins"/>
              </a:rPr>
              <a:t>Carnegie (2025)</a:t>
            </a:r>
          </a:p>
        </p:txBody>
      </p:sp>
      <p:sp>
        <p:nvSpPr>
          <p:cNvPr id="43" name="TextBox 42"/>
          <p:cNvSpPr txBox="1"/>
          <p:nvPr/>
        </p:nvSpPr>
        <p:spPr>
          <a:xfrm>
            <a:off x="2834640" y="4754880"/>
            <a:ext cx="8671255" cy="365760"/>
          </a:xfrm>
          <a:prstGeom prst="rect">
            <a:avLst/>
          </a:prstGeom>
          <a:noFill/>
        </p:spPr>
        <p:txBody>
          <a:bodyPr wrap="square">
            <a:spAutoFit/>
          </a:bodyPr>
          <a:lstStyle/>
          <a:p>
            <a:pPr algn="l"/>
            <a:r>
              <a:rPr sz="1000" b="0" i="0">
                <a:solidFill>
                  <a:srgbClr val="616161"/>
                </a:solidFill>
                <a:latin typeface="Poppins"/>
              </a:rPr>
              <a:t>High school seniors using AI to research universities: 4% (2023) → 23% (2025). Six-fold growth in two years.</a:t>
            </a:r>
          </a:p>
        </p:txBody>
      </p:sp>
      <p:sp>
        <p:nvSpPr>
          <p:cNvPr id="44" name="Rectangle 43"/>
          <p:cNvSpPr/>
          <p:nvPr/>
        </p:nvSpPr>
        <p:spPr>
          <a:xfrm>
            <a:off x="594360" y="5138928"/>
            <a:ext cx="2148840" cy="4389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2743200" y="5138928"/>
            <a:ext cx="8854135" cy="4389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594360" y="5138928"/>
            <a:ext cx="11002975" cy="9144"/>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85800" y="5193792"/>
            <a:ext cx="1965960" cy="365760"/>
          </a:xfrm>
          <a:prstGeom prst="rect">
            <a:avLst/>
          </a:prstGeom>
          <a:noFill/>
        </p:spPr>
        <p:txBody>
          <a:bodyPr wrap="square">
            <a:spAutoFit/>
          </a:bodyPr>
          <a:lstStyle/>
          <a:p>
            <a:pPr algn="l"/>
            <a:r>
              <a:rPr sz="1000" b="1" i="0">
                <a:solidFill>
                  <a:srgbClr val="212121"/>
                </a:solidFill>
                <a:latin typeface="Poppins"/>
              </a:rPr>
              <a:t>Mature-Age Research</a:t>
            </a:r>
          </a:p>
        </p:txBody>
      </p:sp>
      <p:sp>
        <p:nvSpPr>
          <p:cNvPr id="48" name="TextBox 47"/>
          <p:cNvSpPr txBox="1"/>
          <p:nvPr/>
        </p:nvSpPr>
        <p:spPr>
          <a:xfrm>
            <a:off x="2834640" y="5193792"/>
            <a:ext cx="8671255" cy="365760"/>
          </a:xfrm>
          <a:prstGeom prst="rect">
            <a:avLst/>
          </a:prstGeom>
          <a:noFill/>
        </p:spPr>
        <p:txBody>
          <a:bodyPr wrap="square">
            <a:spAutoFit/>
          </a:bodyPr>
          <a:lstStyle/>
          <a:p>
            <a:pPr algn="l"/>
            <a:r>
              <a:rPr sz="1000" b="0" i="0">
                <a:solidFill>
                  <a:srgbClr val="616161"/>
                </a:solidFill>
                <a:latin typeface="Poppins"/>
              </a:rPr>
              <a:t>Site does not signal that Murdoch understands returning students' specific circumstances or anxieties.</a:t>
            </a:r>
          </a:p>
        </p:txBody>
      </p:sp>
      <p:sp>
        <p:nvSpPr>
          <p:cNvPr id="49" name="Rectangle 48"/>
          <p:cNvSpPr/>
          <p:nvPr/>
        </p:nvSpPr>
        <p:spPr>
          <a:xfrm>
            <a:off x="594360" y="5577840"/>
            <a:ext cx="2148840" cy="438912"/>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2743200" y="5577840"/>
            <a:ext cx="8854135" cy="438912"/>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594360" y="5577840"/>
            <a:ext cx="11002975" cy="9144"/>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85800" y="5632704"/>
            <a:ext cx="1965960" cy="365760"/>
          </a:xfrm>
          <a:prstGeom prst="rect">
            <a:avLst/>
          </a:prstGeom>
          <a:noFill/>
        </p:spPr>
        <p:txBody>
          <a:bodyPr wrap="square">
            <a:spAutoFit/>
          </a:bodyPr>
          <a:lstStyle/>
          <a:p>
            <a:pPr algn="l"/>
            <a:r>
              <a:rPr sz="1000" b="1" i="0">
                <a:solidFill>
                  <a:srgbClr val="212121"/>
                </a:solidFill>
                <a:latin typeface="Poppins"/>
              </a:rPr>
              <a:t>Growth Learner Research</a:t>
            </a:r>
          </a:p>
        </p:txBody>
      </p:sp>
      <p:sp>
        <p:nvSpPr>
          <p:cNvPr id="53" name="TextBox 52"/>
          <p:cNvSpPr txBox="1"/>
          <p:nvPr/>
        </p:nvSpPr>
        <p:spPr>
          <a:xfrm>
            <a:off x="2834640" y="5632704"/>
            <a:ext cx="8671255" cy="365760"/>
          </a:xfrm>
          <a:prstGeom prst="rect">
            <a:avLst/>
          </a:prstGeom>
          <a:noFill/>
        </p:spPr>
        <p:txBody>
          <a:bodyPr wrap="square">
            <a:spAutoFit/>
          </a:bodyPr>
          <a:lstStyle/>
          <a:p>
            <a:pPr algn="l"/>
            <a:r>
              <a:rPr sz="1000" b="0" i="0">
                <a:solidFill>
                  <a:srgbClr val="616161"/>
                </a:solidFill>
                <a:latin typeface="Poppins"/>
              </a:rPr>
              <a:t>Pathway information is fragmented across disconnected pages. High cognitive load, high-stakes decision.</a:t>
            </a:r>
          </a:p>
        </p:txBody>
      </p:sp>
      <p:sp>
        <p:nvSpPr>
          <p:cNvPr id="54" name="Rectangle 53"/>
          <p:cNvSpPr/>
          <p:nvPr/>
        </p:nvSpPr>
        <p:spPr>
          <a:xfrm>
            <a:off x="594360" y="6016752"/>
            <a:ext cx="2148840" cy="4389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2743200" y="6016752"/>
            <a:ext cx="8854135" cy="4389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594360" y="6016752"/>
            <a:ext cx="11002975" cy="9144"/>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685800" y="6071616"/>
            <a:ext cx="1965960" cy="365760"/>
          </a:xfrm>
          <a:prstGeom prst="rect">
            <a:avLst/>
          </a:prstGeom>
          <a:noFill/>
        </p:spPr>
        <p:txBody>
          <a:bodyPr wrap="square">
            <a:spAutoFit/>
          </a:bodyPr>
          <a:lstStyle/>
          <a:p>
            <a:pPr algn="l"/>
            <a:r>
              <a:rPr sz="1000" b="1" i="0">
                <a:solidFill>
                  <a:srgbClr val="212121"/>
                </a:solidFill>
                <a:latin typeface="Poppins"/>
              </a:rPr>
              <a:t>Journey Map</a:t>
            </a:r>
          </a:p>
        </p:txBody>
      </p:sp>
      <p:sp>
        <p:nvSpPr>
          <p:cNvPr id="58" name="TextBox 57"/>
          <p:cNvSpPr txBox="1"/>
          <p:nvPr/>
        </p:nvSpPr>
        <p:spPr>
          <a:xfrm>
            <a:off x="2834640" y="6071616"/>
            <a:ext cx="8671255" cy="365760"/>
          </a:xfrm>
          <a:prstGeom prst="rect">
            <a:avLst/>
          </a:prstGeom>
          <a:noFill/>
        </p:spPr>
        <p:txBody>
          <a:bodyPr wrap="square">
            <a:spAutoFit/>
          </a:bodyPr>
          <a:lstStyle/>
          <a:p>
            <a:pPr algn="l"/>
            <a:r>
              <a:rPr sz="1000" b="0" i="0">
                <a:solidFill>
                  <a:srgbClr val="616161"/>
                </a:solidFill>
                <a:latin typeface="Poppins"/>
              </a:rPr>
              <a:t>Multiple drop-off points between awareness and enquiry stages — each a recoverable conversion currently being lost.</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57200"/>
            <a:ext cx="11002975" cy="640080"/>
          </a:xfrm>
          <a:prstGeom prst="rect">
            <a:avLst/>
          </a:prstGeom>
          <a:noFill/>
        </p:spPr>
        <p:txBody>
          <a:bodyPr wrap="none">
            <a:spAutoFit/>
          </a:bodyPr>
          <a:lstStyle/>
          <a:p>
            <a:pPr algn="l"/>
            <a:r>
              <a:rPr sz="2400" b="1" i="0">
                <a:solidFill>
                  <a:srgbClr val="212121"/>
                </a:solidFill>
                <a:latin typeface="Poppins"/>
              </a:rPr>
              <a:t>Architecture Overview</a:t>
            </a:r>
          </a:p>
        </p:txBody>
      </p:sp>
      <p:sp>
        <p:nvSpPr>
          <p:cNvPr id="3" name="Rectangle 2"/>
          <p:cNvSpPr/>
          <p:nvPr/>
        </p:nvSpPr>
        <p:spPr>
          <a:xfrm>
            <a:off x="594360" y="1188720"/>
            <a:ext cx="11002975" cy="45720"/>
          </a:xfrm>
          <a:prstGeom prst="rect">
            <a:avLst/>
          </a:prstGeom>
          <a:solidFill>
            <a:srgbClr val="C820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298448"/>
            <a:ext cx="11002975" cy="256032"/>
          </a:xfrm>
          <a:prstGeom prst="rect">
            <a:avLst/>
          </a:prstGeom>
          <a:noFill/>
        </p:spPr>
        <p:txBody>
          <a:bodyPr wrap="square">
            <a:spAutoFit/>
          </a:bodyPr>
          <a:lstStyle/>
          <a:p>
            <a:pPr algn="l"/>
            <a:r>
              <a:rPr sz="1000" b="1" i="0">
                <a:solidFill>
                  <a:srgbClr val="9E9E9E"/>
                </a:solidFill>
                <a:latin typeface="Poppins"/>
              </a:rPr>
              <a:t>APPENDIX B</a:t>
            </a:r>
          </a:p>
        </p:txBody>
      </p:sp>
      <p:sp>
        <p:nvSpPr>
          <p:cNvPr id="5" name="Rectangle 4"/>
          <p:cNvSpPr/>
          <p:nvPr/>
        </p:nvSpPr>
        <p:spPr>
          <a:xfrm>
            <a:off x="594360" y="1691640"/>
            <a:ext cx="3291840" cy="3977639"/>
          </a:xfrm>
          <a:prstGeom prst="rect">
            <a:avLst/>
          </a:prstGeom>
          <a:solidFill>
            <a:srgbClr val="F5F5F5"/>
          </a:solidFill>
          <a:ln w="9525">
            <a:solidFill>
              <a:srgbClr val="009C9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94360" y="1691640"/>
            <a:ext cx="3291840" cy="457200"/>
          </a:xfrm>
          <a:prstGeom prst="rect">
            <a:avLst/>
          </a:prstGeom>
          <a:solidFill>
            <a:srgbClr val="009C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764792"/>
            <a:ext cx="3017520" cy="347472"/>
          </a:xfrm>
          <a:prstGeom prst="rect">
            <a:avLst/>
          </a:prstGeom>
          <a:noFill/>
        </p:spPr>
        <p:txBody>
          <a:bodyPr wrap="square">
            <a:spAutoFit/>
          </a:bodyPr>
          <a:lstStyle/>
          <a:p>
            <a:pPr algn="l"/>
            <a:r>
              <a:rPr sz="1300" b="1" i="0">
                <a:solidFill>
                  <a:srgbClr val="FFFFFF"/>
                </a:solidFill>
                <a:latin typeface="Poppins"/>
              </a:rPr>
              <a:t>Data Sources</a:t>
            </a:r>
          </a:p>
        </p:txBody>
      </p:sp>
      <p:sp>
        <p:nvSpPr>
          <p:cNvPr id="8" name="TextBox 7"/>
          <p:cNvSpPr txBox="1"/>
          <p:nvPr/>
        </p:nvSpPr>
        <p:spPr>
          <a:xfrm>
            <a:off x="731520" y="2258568"/>
            <a:ext cx="3017520" cy="3264407"/>
          </a:xfrm>
          <a:prstGeom prst="rect">
            <a:avLst/>
          </a:prstGeom>
          <a:noFill/>
        </p:spPr>
        <p:txBody>
          <a:bodyPr wrap="square">
            <a:spAutoFit/>
          </a:bodyPr>
          <a:lstStyle/>
          <a:p>
            <a:pPr algn="l">
              <a:spcAft>
                <a:spcPts val="600"/>
              </a:spcAft>
            </a:pPr>
            <a:r>
              <a:rPr sz="1200" b="0" i="0">
                <a:solidFill>
                  <a:srgbClr val="212121"/>
                </a:solidFill>
                <a:latin typeface="Poppins"/>
              </a:rPr>
              <a:t>• Course Management</a:t>
            </a:r>
          </a:p>
          <a:p>
            <a:pPr algn="l">
              <a:spcAft>
                <a:spcPts val="600"/>
              </a:spcAft>
            </a:pPr>
            <a:r>
              <a:rPr sz="1200" b="0" i="0">
                <a:solidFill>
                  <a:srgbClr val="212121"/>
                </a:solidFill>
                <a:latin typeface="Poppins"/>
              </a:rPr>
              <a:t>• Admissions / SMS</a:t>
            </a:r>
          </a:p>
          <a:p>
            <a:pPr algn="l">
              <a:spcAft>
                <a:spcPts val="600"/>
              </a:spcAft>
            </a:pPr>
            <a:r>
              <a:rPr sz="1200" b="0" i="0">
                <a:solidFill>
                  <a:srgbClr val="212121"/>
                </a:solidFill>
                <a:latin typeface="Poppins"/>
              </a:rPr>
              <a:t>• Scholarship Database</a:t>
            </a:r>
          </a:p>
          <a:p>
            <a:pPr algn="l">
              <a:spcAft>
                <a:spcPts val="600"/>
              </a:spcAft>
            </a:pPr>
            <a:r>
              <a:rPr sz="1200" b="0" i="0">
                <a:solidFill>
                  <a:srgbClr val="212121"/>
                </a:solidFill>
                <a:latin typeface="Poppins"/>
              </a:rPr>
              <a:t>• RPL / Credit Transfer</a:t>
            </a:r>
          </a:p>
          <a:p>
            <a:pPr algn="l">
              <a:spcAft>
                <a:spcPts val="600"/>
              </a:spcAft>
            </a:pPr>
            <a:r>
              <a:rPr sz="1200" b="0" i="0">
                <a:solidFill>
                  <a:srgbClr val="212121"/>
                </a:solidFill>
                <a:latin typeface="Poppins"/>
              </a:rPr>
              <a:t>• International Office</a:t>
            </a:r>
          </a:p>
          <a:p>
            <a:pPr algn="l">
              <a:spcAft>
                <a:spcPts val="600"/>
              </a:spcAft>
            </a:pPr>
            <a:r>
              <a:rPr sz="1200" b="0" i="0">
                <a:solidFill>
                  <a:srgbClr val="212121"/>
                </a:solidFill>
                <a:latin typeface="Poppins"/>
              </a:rPr>
              <a:t>• Events &amp; Campus Services</a:t>
            </a:r>
          </a:p>
          <a:p>
            <a:pPr algn="l">
              <a:spcAft>
                <a:spcPts val="600"/>
              </a:spcAft>
            </a:pPr>
            <a:r>
              <a:rPr sz="1200" b="0" i="0">
                <a:solidFill>
                  <a:srgbClr val="212121"/>
                </a:solidFill>
                <a:latin typeface="Poppins"/>
              </a:rPr>
              <a:t>• CRM (Salesforce / Dynamics)</a:t>
            </a:r>
          </a:p>
        </p:txBody>
      </p:sp>
      <p:sp>
        <p:nvSpPr>
          <p:cNvPr id="9" name="TextBox 8"/>
          <p:cNvSpPr txBox="1"/>
          <p:nvPr/>
        </p:nvSpPr>
        <p:spPr>
          <a:xfrm>
            <a:off x="3977640" y="3497579"/>
            <a:ext cx="320040" cy="365760"/>
          </a:xfrm>
          <a:prstGeom prst="rect">
            <a:avLst/>
          </a:prstGeom>
          <a:noFill/>
        </p:spPr>
        <p:txBody>
          <a:bodyPr wrap="square">
            <a:spAutoFit/>
          </a:bodyPr>
          <a:lstStyle/>
          <a:p>
            <a:pPr algn="ctr"/>
            <a:r>
              <a:rPr sz="2400" b="1" i="0">
                <a:solidFill>
                  <a:srgbClr val="9E9E9E"/>
                </a:solidFill>
                <a:latin typeface="Poppins"/>
              </a:rPr>
              <a:t>→</a:t>
            </a:r>
          </a:p>
        </p:txBody>
      </p:sp>
      <p:sp>
        <p:nvSpPr>
          <p:cNvPr id="10" name="Rectangle 9"/>
          <p:cNvSpPr/>
          <p:nvPr/>
        </p:nvSpPr>
        <p:spPr>
          <a:xfrm>
            <a:off x="4343400" y="1691640"/>
            <a:ext cx="3291840" cy="3977639"/>
          </a:xfrm>
          <a:prstGeom prst="rect">
            <a:avLst/>
          </a:prstGeom>
          <a:solidFill>
            <a:srgbClr val="F5F5F5"/>
          </a:solidFill>
          <a:ln w="9525">
            <a:solidFill>
              <a:srgbClr val="C820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43400" y="1691640"/>
            <a:ext cx="3291840" cy="457200"/>
          </a:xfrm>
          <a:prstGeom prst="rect">
            <a:avLst/>
          </a:prstGeom>
          <a:solidFill>
            <a:srgbClr val="C820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480560" y="1764792"/>
            <a:ext cx="3017520" cy="347472"/>
          </a:xfrm>
          <a:prstGeom prst="rect">
            <a:avLst/>
          </a:prstGeom>
          <a:noFill/>
        </p:spPr>
        <p:txBody>
          <a:bodyPr wrap="square">
            <a:spAutoFit/>
          </a:bodyPr>
          <a:lstStyle/>
          <a:p>
            <a:pPr algn="l"/>
            <a:r>
              <a:rPr sz="1300" b="1" i="0">
                <a:solidFill>
                  <a:srgbClr val="FFFFFF"/>
                </a:solidFill>
                <a:latin typeface="Poppins"/>
              </a:rPr>
              <a:t>Knowledge Platform</a:t>
            </a:r>
          </a:p>
        </p:txBody>
      </p:sp>
      <p:sp>
        <p:nvSpPr>
          <p:cNvPr id="13" name="TextBox 12"/>
          <p:cNvSpPr txBox="1"/>
          <p:nvPr/>
        </p:nvSpPr>
        <p:spPr>
          <a:xfrm>
            <a:off x="4480560" y="2258568"/>
            <a:ext cx="3017520" cy="3264407"/>
          </a:xfrm>
          <a:prstGeom prst="rect">
            <a:avLst/>
          </a:prstGeom>
          <a:noFill/>
        </p:spPr>
        <p:txBody>
          <a:bodyPr wrap="square">
            <a:spAutoFit/>
          </a:bodyPr>
          <a:lstStyle/>
          <a:p>
            <a:pPr algn="l">
              <a:spcAft>
                <a:spcPts val="600"/>
              </a:spcAft>
            </a:pPr>
            <a:r>
              <a:rPr sz="1200" b="0" i="0">
                <a:solidFill>
                  <a:srgbClr val="212121"/>
                </a:solidFill>
                <a:latin typeface="Poppins"/>
              </a:rPr>
              <a:t>• Content ingestion &amp; chunking</a:t>
            </a:r>
          </a:p>
          <a:p>
            <a:pPr algn="l">
              <a:spcAft>
                <a:spcPts val="600"/>
              </a:spcAft>
            </a:pPr>
            <a:r>
              <a:rPr sz="1200" b="0" i="0">
                <a:solidFill>
                  <a:srgbClr val="212121"/>
                </a:solidFill>
                <a:latin typeface="Poppins"/>
              </a:rPr>
              <a:t>• Semantic embedding &amp; retrieval</a:t>
            </a:r>
          </a:p>
          <a:p>
            <a:pPr algn="l">
              <a:spcAft>
                <a:spcPts val="600"/>
              </a:spcAft>
            </a:pPr>
            <a:r>
              <a:rPr sz="1200" b="0" i="0">
                <a:solidFill>
                  <a:srgbClr val="212121"/>
                </a:solidFill>
                <a:latin typeface="Poppins"/>
              </a:rPr>
              <a:t>• Governance &amp; confidence thresholds</a:t>
            </a:r>
          </a:p>
          <a:p>
            <a:pPr algn="l">
              <a:spcAft>
                <a:spcPts val="600"/>
              </a:spcAft>
            </a:pPr>
            <a:r>
              <a:rPr sz="1200" b="0" i="0">
                <a:solidFill>
                  <a:srgbClr val="212121"/>
                </a:solidFill>
                <a:latin typeface="Poppins"/>
              </a:rPr>
              <a:t>• Audit trail &amp; logging</a:t>
            </a:r>
          </a:p>
          <a:p>
            <a:pPr algn="l">
              <a:spcAft>
                <a:spcPts val="600"/>
              </a:spcAft>
            </a:pPr>
            <a:r>
              <a:rPr sz="1200" b="0" i="0">
                <a:solidFill>
                  <a:srgbClr val="212121"/>
                </a:solidFill>
                <a:latin typeface="Poppins"/>
              </a:rPr>
              <a:t>• Content team updates
(no engineering required)</a:t>
            </a:r>
          </a:p>
        </p:txBody>
      </p:sp>
      <p:sp>
        <p:nvSpPr>
          <p:cNvPr id="14" name="TextBox 13"/>
          <p:cNvSpPr txBox="1"/>
          <p:nvPr/>
        </p:nvSpPr>
        <p:spPr>
          <a:xfrm>
            <a:off x="7726680" y="3497579"/>
            <a:ext cx="320040" cy="365760"/>
          </a:xfrm>
          <a:prstGeom prst="rect">
            <a:avLst/>
          </a:prstGeom>
          <a:noFill/>
        </p:spPr>
        <p:txBody>
          <a:bodyPr wrap="square">
            <a:spAutoFit/>
          </a:bodyPr>
          <a:lstStyle/>
          <a:p>
            <a:pPr algn="ctr"/>
            <a:r>
              <a:rPr sz="2400" b="1" i="0">
                <a:solidFill>
                  <a:srgbClr val="9E9E9E"/>
                </a:solidFill>
                <a:latin typeface="Poppins"/>
              </a:rPr>
              <a:t>→</a:t>
            </a:r>
          </a:p>
        </p:txBody>
      </p:sp>
      <p:sp>
        <p:nvSpPr>
          <p:cNvPr id="15" name="Rectangle 14"/>
          <p:cNvSpPr/>
          <p:nvPr/>
        </p:nvSpPr>
        <p:spPr>
          <a:xfrm>
            <a:off x="8092440" y="1691640"/>
            <a:ext cx="3291840" cy="3977639"/>
          </a:xfrm>
          <a:prstGeom prst="rect">
            <a:avLst/>
          </a:prstGeom>
          <a:solidFill>
            <a:srgbClr val="F5F5F5"/>
          </a:solidFill>
          <a:ln w="9525">
            <a:solidFill>
              <a:srgbClr val="4D32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92440" y="1691640"/>
            <a:ext cx="3291840" cy="457200"/>
          </a:xfrm>
          <a:prstGeom prst="rect">
            <a:avLst/>
          </a:prstGeom>
          <a:solidFill>
            <a:srgbClr val="4D32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29600" y="1764792"/>
            <a:ext cx="3017520" cy="347472"/>
          </a:xfrm>
          <a:prstGeom prst="rect">
            <a:avLst/>
          </a:prstGeom>
          <a:noFill/>
        </p:spPr>
        <p:txBody>
          <a:bodyPr wrap="square">
            <a:spAutoFit/>
          </a:bodyPr>
          <a:lstStyle/>
          <a:p>
            <a:pPr algn="l"/>
            <a:r>
              <a:rPr sz="1300" b="1" i="0">
                <a:solidFill>
                  <a:srgbClr val="FFFFFF"/>
                </a:solidFill>
                <a:latin typeface="Poppins"/>
              </a:rPr>
              <a:t>Agent Interface</a:t>
            </a:r>
          </a:p>
        </p:txBody>
      </p:sp>
      <p:sp>
        <p:nvSpPr>
          <p:cNvPr id="18" name="TextBox 17"/>
          <p:cNvSpPr txBox="1"/>
          <p:nvPr/>
        </p:nvSpPr>
        <p:spPr>
          <a:xfrm>
            <a:off x="8229600" y="2258568"/>
            <a:ext cx="3017520" cy="3264407"/>
          </a:xfrm>
          <a:prstGeom prst="rect">
            <a:avLst/>
          </a:prstGeom>
          <a:noFill/>
        </p:spPr>
        <p:txBody>
          <a:bodyPr wrap="square">
            <a:spAutoFit/>
          </a:bodyPr>
          <a:lstStyle/>
          <a:p>
            <a:pPr algn="l">
              <a:spcAft>
                <a:spcPts val="600"/>
              </a:spcAft>
            </a:pPr>
            <a:r>
              <a:rPr sz="1200" b="0" i="0">
                <a:solidFill>
                  <a:srgbClr val="212121"/>
                </a:solidFill>
                <a:latin typeface="Poppins"/>
              </a:rPr>
              <a:t>• Conversation engine</a:t>
            </a:r>
          </a:p>
          <a:p>
            <a:pPr algn="l">
              <a:spcAft>
                <a:spcPts val="600"/>
              </a:spcAft>
            </a:pPr>
            <a:r>
              <a:rPr sz="1200" b="0" i="0">
                <a:solidFill>
                  <a:srgbClr val="212121"/>
                </a:solidFill>
                <a:latin typeface="Poppins"/>
              </a:rPr>
              <a:t>• Cohort detection &amp; adaptation</a:t>
            </a:r>
          </a:p>
          <a:p>
            <a:pPr algn="l">
              <a:spcAft>
                <a:spcPts val="600"/>
              </a:spcAft>
            </a:pPr>
            <a:r>
              <a:rPr sz="1200" b="0" i="0">
                <a:solidFill>
                  <a:srgbClr val="212121"/>
                </a:solidFill>
                <a:latin typeface="Poppins"/>
              </a:rPr>
              <a:t>• Response streaming</a:t>
            </a:r>
          </a:p>
          <a:p>
            <a:pPr algn="l">
              <a:spcAft>
                <a:spcPts val="600"/>
              </a:spcAft>
            </a:pPr>
            <a:r>
              <a:rPr sz="1200" b="0" i="0">
                <a:solidFill>
                  <a:srgbClr val="212121"/>
                </a:solidFill>
                <a:latin typeface="Poppins"/>
              </a:rPr>
              <a:t>• Escalation logic</a:t>
            </a:r>
          </a:p>
          <a:p>
            <a:pPr algn="l">
              <a:spcAft>
                <a:spcPts val="600"/>
              </a:spcAft>
            </a:pPr>
            <a:r>
              <a:rPr sz="1200" b="0" i="0">
                <a:solidFill>
                  <a:srgbClr val="212121"/>
                </a:solidFill>
                <a:latin typeface="Poppins"/>
              </a:rPr>
              <a:t>• Analytics &amp; reporting</a:t>
            </a:r>
          </a:p>
        </p:txBody>
      </p:sp>
      <p:sp>
        <p:nvSpPr>
          <p:cNvPr id="19" name="Rectangle 18"/>
          <p:cNvSpPr/>
          <p:nvPr/>
        </p:nvSpPr>
        <p:spPr>
          <a:xfrm>
            <a:off x="594360" y="5870447"/>
            <a:ext cx="10789920" cy="566928"/>
          </a:xfrm>
          <a:prstGeom prst="rect">
            <a:avLst/>
          </a:prstGeom>
          <a:solidFill>
            <a:srgbClr val="2121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5961887"/>
            <a:ext cx="10424160" cy="457200"/>
          </a:xfrm>
          <a:prstGeom prst="rect">
            <a:avLst/>
          </a:prstGeom>
          <a:noFill/>
        </p:spPr>
        <p:txBody>
          <a:bodyPr wrap="square">
            <a:spAutoFit/>
          </a:bodyPr>
          <a:lstStyle/>
          <a:p>
            <a:pPr algn="ctr"/>
            <a:r>
              <a:rPr sz="1200" b="0" i="0">
                <a:solidFill>
                  <a:srgbClr val="FFFFFF"/>
                </a:solidFill>
                <a:latin typeface="Poppins"/>
              </a:rPr>
              <a:t>Integration layer:  CRM write-back  ·  Advisor handoff with context  ·  Booking systems  ·  Application tracking</a:t>
            </a:r>
          </a:p>
        </p:txBody>
      </p:sp>
      <p:sp>
        <p:nvSpPr>
          <p:cNvPr id="21" name="TextBox 20"/>
          <p:cNvSpPr txBox="1"/>
          <p:nvPr/>
        </p:nvSpPr>
        <p:spPr>
          <a:xfrm>
            <a:off x="594360" y="6574535"/>
            <a:ext cx="10789920" cy="411480"/>
          </a:xfrm>
          <a:prstGeom prst="rect">
            <a:avLst/>
          </a:prstGeom>
          <a:noFill/>
        </p:spPr>
        <p:txBody>
          <a:bodyPr wrap="square">
            <a:spAutoFit/>
          </a:bodyPr>
          <a:lstStyle/>
          <a:p>
            <a:pPr algn="ctr"/>
            <a:r>
              <a:rPr sz="1000" b="0" i="1">
                <a:solidFill>
                  <a:srgbClr val="9E9E9E"/>
                </a:solidFill>
                <a:latin typeface="Poppins"/>
              </a:rPr>
              <a:t>Model-agnostic  ·  Murdoch-owned architecture  ·  Audit trail for compliance  ·  Flexible deployment: widget · standalone · mobile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